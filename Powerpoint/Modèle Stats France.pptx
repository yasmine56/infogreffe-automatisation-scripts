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8.xml" ContentType="application/vnd.openxmlformats-officedocument.drawingml.chart+xml"/>
  <Override PartName="/ppt/notesSlides/notesSlide25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26.xml" ContentType="application/vnd.openxmlformats-officedocument.presentationml.notes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0"/>
  </p:notesMasterIdLst>
  <p:sldIdLst>
    <p:sldId id="263" r:id="rId5"/>
    <p:sldId id="2147482674" r:id="rId6"/>
    <p:sldId id="2147482533" r:id="rId7"/>
    <p:sldId id="2147482676" r:id="rId8"/>
    <p:sldId id="2147482671" r:id="rId9"/>
    <p:sldId id="2147482672" r:id="rId10"/>
    <p:sldId id="2147482677" r:id="rId11"/>
    <p:sldId id="2147482678" r:id="rId12"/>
    <p:sldId id="2147482667" r:id="rId13"/>
    <p:sldId id="2147482679" r:id="rId14"/>
    <p:sldId id="2147482680" r:id="rId15"/>
    <p:sldId id="2147482670" r:id="rId16"/>
    <p:sldId id="2147482668" r:id="rId17"/>
    <p:sldId id="2147482681" r:id="rId18"/>
    <p:sldId id="2147482682" r:id="rId19"/>
    <p:sldId id="2147482683" r:id="rId20"/>
    <p:sldId id="2147482687" r:id="rId21"/>
    <p:sldId id="2147482688" r:id="rId22"/>
    <p:sldId id="2147482689" r:id="rId23"/>
    <p:sldId id="2147482690" r:id="rId24"/>
    <p:sldId id="2147482691" r:id="rId25"/>
    <p:sldId id="2147482692" r:id="rId26"/>
    <p:sldId id="2147482666" r:id="rId27"/>
    <p:sldId id="2147482693" r:id="rId28"/>
    <p:sldId id="2147482694" r:id="rId29"/>
    <p:sldId id="2147482695" r:id="rId30"/>
    <p:sldId id="2147482696" r:id="rId31"/>
    <p:sldId id="2147482684" r:id="rId32"/>
    <p:sldId id="2147482697" r:id="rId33"/>
    <p:sldId id="2147482698" r:id="rId34"/>
    <p:sldId id="2147482699" r:id="rId35"/>
    <p:sldId id="2147482700" r:id="rId36"/>
    <p:sldId id="2147482701" r:id="rId37"/>
    <p:sldId id="2147482702" r:id="rId38"/>
    <p:sldId id="2147482703" r:id="rId39"/>
    <p:sldId id="2147482686" r:id="rId40"/>
    <p:sldId id="2147482719" r:id="rId41"/>
    <p:sldId id="2147482705" r:id="rId42"/>
    <p:sldId id="2147482661" r:id="rId43"/>
    <p:sldId id="2147482706" r:id="rId44"/>
    <p:sldId id="2147482662" r:id="rId45"/>
    <p:sldId id="2147482663" r:id="rId46"/>
    <p:sldId id="2147482664" r:id="rId47"/>
    <p:sldId id="2147482665" r:id="rId48"/>
    <p:sldId id="2147482715" r:id="rId49"/>
    <p:sldId id="2147482717" r:id="rId50"/>
    <p:sldId id="2147482718" r:id="rId51"/>
    <p:sldId id="2147482707" r:id="rId52"/>
    <p:sldId id="2147482708" r:id="rId53"/>
    <p:sldId id="2147482709" r:id="rId54"/>
    <p:sldId id="2147482720" r:id="rId55"/>
    <p:sldId id="2147482711" r:id="rId56"/>
    <p:sldId id="2147482712" r:id="rId57"/>
    <p:sldId id="2147482713" r:id="rId58"/>
    <p:sldId id="2147482714" r:id="rId5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236B"/>
    <a:srgbClr val="4796D8"/>
    <a:srgbClr val="3F986F"/>
    <a:srgbClr val="FEC844"/>
    <a:srgbClr val="8AD489"/>
    <a:srgbClr val="36A4A3"/>
    <a:srgbClr val="FE9419"/>
    <a:srgbClr val="A7A7A7"/>
    <a:srgbClr val="D41717"/>
    <a:srgbClr val="273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D13F8-23B6-47E9-8000-489F3B4677EF}" v="10" dt="2025-11-28T14:53:13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8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AISSA" userId="c49615ed-9cc6-4a52-85fc-c583af0ddf2f" providerId="ADAL" clId="{C1E26B80-9E14-4479-9694-990F20F05C7F}"/>
    <pc:docChg chg="undo custSel addSld delSld modSld sldOrd">
      <pc:chgData name="Yasmine AISSA" userId="c49615ed-9cc6-4a52-85fc-c583af0ddf2f" providerId="ADAL" clId="{C1E26B80-9E14-4479-9694-990F20F05C7F}" dt="2025-11-28T14:53:34.067" v="1638" actId="47"/>
      <pc:docMkLst>
        <pc:docMk/>
      </pc:docMkLst>
      <pc:sldChg chg="mod">
        <pc:chgData name="Yasmine AISSA" userId="c49615ed-9cc6-4a52-85fc-c583af0ddf2f" providerId="ADAL" clId="{C1E26B80-9E14-4479-9694-990F20F05C7F}" dt="2025-11-28T13:43:30.996" v="1504" actId="27918"/>
        <pc:sldMkLst>
          <pc:docMk/>
          <pc:sldMk cId="632738204" sldId="2147482663"/>
        </pc:sldMkLst>
      </pc:sldChg>
      <pc:sldChg chg="mod">
        <pc:chgData name="Yasmine AISSA" userId="c49615ed-9cc6-4a52-85fc-c583af0ddf2f" providerId="ADAL" clId="{C1E26B80-9E14-4479-9694-990F20F05C7F}" dt="2025-11-28T13:43:53.426" v="1514" actId="27918"/>
        <pc:sldMkLst>
          <pc:docMk/>
          <pc:sldMk cId="852794564" sldId="2147482664"/>
        </pc:sldMkLst>
      </pc:sldChg>
      <pc:sldChg chg="mod">
        <pc:chgData name="Yasmine AISSA" userId="c49615ed-9cc6-4a52-85fc-c583af0ddf2f" providerId="ADAL" clId="{C1E26B80-9E14-4479-9694-990F20F05C7F}" dt="2025-11-28T13:44:08.973" v="1534" actId="27918"/>
        <pc:sldMkLst>
          <pc:docMk/>
          <pc:sldMk cId="84683873" sldId="2147482665"/>
        </pc:sldMkLst>
      </pc:sldChg>
      <pc:sldChg chg="mod">
        <pc:chgData name="Yasmine AISSA" userId="c49615ed-9cc6-4a52-85fc-c583af0ddf2f" providerId="ADAL" clId="{C1E26B80-9E14-4479-9694-990F20F05C7F}" dt="2025-11-28T13:39:50.619" v="1387" actId="27918"/>
        <pc:sldMkLst>
          <pc:docMk/>
          <pc:sldMk cId="1703238676" sldId="2147482667"/>
        </pc:sldMkLst>
      </pc:sldChg>
      <pc:sldChg chg="modSp add mod">
        <pc:chgData name="Yasmine AISSA" userId="c49615ed-9cc6-4a52-85fc-c583af0ddf2f" providerId="ADAL" clId="{C1E26B80-9E14-4479-9694-990F20F05C7F}" dt="2025-11-28T13:08:08.964" v="1364" actId="20577"/>
        <pc:sldMkLst>
          <pc:docMk/>
          <pc:sldMk cId="3996227557" sldId="2147482676"/>
        </pc:sldMkLst>
        <pc:spChg chg="mod">
          <ac:chgData name="Yasmine AISSA" userId="c49615ed-9cc6-4a52-85fc-c583af0ddf2f" providerId="ADAL" clId="{C1E26B80-9E14-4479-9694-990F20F05C7F}" dt="2025-11-28T13:08:08.964" v="1364" actId="20577"/>
          <ac:spMkLst>
            <pc:docMk/>
            <pc:sldMk cId="3996227557" sldId="2147482676"/>
            <ac:spMk id="5" creationId="{53B40AEF-A6B4-0A6B-24DC-BEED0964D7D4}"/>
          </ac:spMkLst>
        </pc:spChg>
      </pc:sldChg>
      <pc:sldChg chg="mod">
        <pc:chgData name="Yasmine AISSA" userId="c49615ed-9cc6-4a52-85fc-c583af0ddf2f" providerId="ADAL" clId="{C1E26B80-9E14-4479-9694-990F20F05C7F}" dt="2025-11-28T13:39:05.229" v="1380" actId="27918"/>
        <pc:sldMkLst>
          <pc:docMk/>
          <pc:sldMk cId="3684059316" sldId="2147482678"/>
        </pc:sldMkLst>
      </pc:sldChg>
      <pc:sldChg chg="mod">
        <pc:chgData name="Yasmine AISSA" userId="c49615ed-9cc6-4a52-85fc-c583af0ddf2f" providerId="ADAL" clId="{C1E26B80-9E14-4479-9694-990F20F05C7F}" dt="2025-11-28T13:40:14.161" v="1397" actId="27918"/>
        <pc:sldMkLst>
          <pc:docMk/>
          <pc:sldMk cId="3321908702" sldId="2147482682"/>
        </pc:sldMkLst>
      </pc:sldChg>
      <pc:sldChg chg="mod">
        <pc:chgData name="Yasmine AISSA" userId="c49615ed-9cc6-4a52-85fc-c583af0ddf2f" providerId="ADAL" clId="{C1E26B80-9E14-4479-9694-990F20F05C7F}" dt="2025-11-28T13:40:29.893" v="1402" actId="27918"/>
        <pc:sldMkLst>
          <pc:docMk/>
          <pc:sldMk cId="3052874768" sldId="2147482683"/>
        </pc:sldMkLst>
      </pc:sldChg>
      <pc:sldChg chg="mod">
        <pc:chgData name="Yasmine AISSA" userId="c49615ed-9cc6-4a52-85fc-c583af0ddf2f" providerId="ADAL" clId="{C1E26B80-9E14-4479-9694-990F20F05C7F}" dt="2025-11-28T13:42:49.875" v="1478" actId="27918"/>
        <pc:sldMkLst>
          <pc:docMk/>
          <pc:sldMk cId="2673442239" sldId="2147482686"/>
        </pc:sldMkLst>
      </pc:sldChg>
      <pc:sldChg chg="mod">
        <pc:chgData name="Yasmine AISSA" userId="c49615ed-9cc6-4a52-85fc-c583af0ddf2f" providerId="ADAL" clId="{C1E26B80-9E14-4479-9694-990F20F05C7F}" dt="2025-11-28T13:41:08.967" v="1410" actId="27918"/>
        <pc:sldMkLst>
          <pc:docMk/>
          <pc:sldMk cId="4049984194" sldId="2147482687"/>
        </pc:sldMkLst>
      </pc:sldChg>
      <pc:sldChg chg="mod">
        <pc:chgData name="Yasmine AISSA" userId="c49615ed-9cc6-4a52-85fc-c583af0ddf2f" providerId="ADAL" clId="{C1E26B80-9E14-4479-9694-990F20F05C7F}" dt="2025-11-28T13:41:30.235" v="1420" actId="27918"/>
        <pc:sldMkLst>
          <pc:docMk/>
          <pc:sldMk cId="879415286" sldId="2147482691"/>
        </pc:sldMkLst>
      </pc:sldChg>
      <pc:sldChg chg="mod">
        <pc:chgData name="Yasmine AISSA" userId="c49615ed-9cc6-4a52-85fc-c583af0ddf2f" providerId="ADAL" clId="{C1E26B80-9E14-4479-9694-990F20F05C7F}" dt="2025-11-28T13:42:04.945" v="1458" actId="27918"/>
        <pc:sldMkLst>
          <pc:docMk/>
          <pc:sldMk cId="3809015469" sldId="2147482694"/>
        </pc:sldMkLst>
      </pc:sldChg>
      <pc:sldChg chg="mod">
        <pc:chgData name="Yasmine AISSA" userId="c49615ed-9cc6-4a52-85fc-c583af0ddf2f" providerId="ADAL" clId="{C1E26B80-9E14-4479-9694-990F20F05C7F}" dt="2025-11-28T13:42:22.046" v="1467" actId="27918"/>
        <pc:sldMkLst>
          <pc:docMk/>
          <pc:sldMk cId="2776012211" sldId="2147482697"/>
        </pc:sldMkLst>
      </pc:sldChg>
      <pc:sldChg chg="mod">
        <pc:chgData name="Yasmine AISSA" userId="c49615ed-9cc6-4a52-85fc-c583af0ddf2f" providerId="ADAL" clId="{C1E26B80-9E14-4479-9694-990F20F05C7F}" dt="2025-11-28T13:42:33.520" v="1472" actId="27918"/>
        <pc:sldMkLst>
          <pc:docMk/>
          <pc:sldMk cId="3422391042" sldId="2147482698"/>
        </pc:sldMkLst>
      </pc:sldChg>
      <pc:sldChg chg="mod">
        <pc:chgData name="Yasmine AISSA" userId="c49615ed-9cc6-4a52-85fc-c583af0ddf2f" providerId="ADAL" clId="{C1E26B80-9E14-4479-9694-990F20F05C7F}" dt="2025-11-28T13:44:39.649" v="1542" actId="27918"/>
        <pc:sldMkLst>
          <pc:docMk/>
          <pc:sldMk cId="1357835497" sldId="2147482708"/>
        </pc:sldMkLst>
      </pc:sldChg>
      <pc:sldChg chg="mod">
        <pc:chgData name="Yasmine AISSA" userId="c49615ed-9cc6-4a52-85fc-c583af0ddf2f" providerId="ADAL" clId="{C1E26B80-9E14-4479-9694-990F20F05C7F}" dt="2025-11-28T13:45:06.623" v="1576" actId="27918"/>
        <pc:sldMkLst>
          <pc:docMk/>
          <pc:sldMk cId="297630540" sldId="2147482709"/>
        </pc:sldMkLst>
      </pc:sldChg>
      <pc:sldChg chg="del mod">
        <pc:chgData name="Yasmine AISSA" userId="c49615ed-9cc6-4a52-85fc-c583af0ddf2f" providerId="ADAL" clId="{C1E26B80-9E14-4479-9694-990F20F05C7F}" dt="2025-11-28T14:53:34.067" v="1638" actId="47"/>
        <pc:sldMkLst>
          <pc:docMk/>
          <pc:sldMk cId="1091525272" sldId="2147482710"/>
        </pc:sldMkLst>
      </pc:sldChg>
      <pc:sldChg chg="mod">
        <pc:chgData name="Yasmine AISSA" userId="c49615ed-9cc6-4a52-85fc-c583af0ddf2f" providerId="ADAL" clId="{C1E26B80-9E14-4479-9694-990F20F05C7F}" dt="2025-11-28T13:45:31.106" v="1589" actId="27918"/>
        <pc:sldMkLst>
          <pc:docMk/>
          <pc:sldMk cId="1311086231" sldId="2147482712"/>
        </pc:sldMkLst>
      </pc:sldChg>
      <pc:sldChg chg="mod">
        <pc:chgData name="Yasmine AISSA" userId="c49615ed-9cc6-4a52-85fc-c583af0ddf2f" providerId="ADAL" clId="{C1E26B80-9E14-4479-9694-990F20F05C7F}" dt="2025-11-28T13:46:01.352" v="1625" actId="27918"/>
        <pc:sldMkLst>
          <pc:docMk/>
          <pc:sldMk cId="3738596502" sldId="2147482713"/>
        </pc:sldMkLst>
      </pc:sldChg>
      <pc:sldChg chg="mod">
        <pc:chgData name="Yasmine AISSA" userId="c49615ed-9cc6-4a52-85fc-c583af0ddf2f" providerId="ADAL" clId="{C1E26B80-9E14-4479-9694-990F20F05C7F}" dt="2025-11-28T13:46:19.343" v="1633" actId="27918"/>
        <pc:sldMkLst>
          <pc:docMk/>
          <pc:sldMk cId="1825403148" sldId="2147482714"/>
        </pc:sldMkLst>
      </pc:sldChg>
      <pc:sldChg chg="mod">
        <pc:chgData name="Yasmine AISSA" userId="c49615ed-9cc6-4a52-85fc-c583af0ddf2f" providerId="ADAL" clId="{C1E26B80-9E14-4479-9694-990F20F05C7F}" dt="2025-11-28T13:43:01.048" v="1484" actId="27918"/>
        <pc:sldMkLst>
          <pc:docMk/>
          <pc:sldMk cId="1780777826" sldId="2147482719"/>
        </pc:sldMkLst>
      </pc:sldChg>
      <pc:sldChg chg="modSp add">
        <pc:chgData name="Yasmine AISSA" userId="c49615ed-9cc6-4a52-85fc-c583af0ddf2f" providerId="ADAL" clId="{C1E26B80-9E14-4479-9694-990F20F05C7F}" dt="2025-11-28T14:53:13.250" v="1637"/>
        <pc:sldMkLst>
          <pc:docMk/>
          <pc:sldMk cId="188303595" sldId="2147482720"/>
        </pc:sldMkLst>
        <pc:spChg chg="mod">
          <ac:chgData name="Yasmine AISSA" userId="c49615ed-9cc6-4a52-85fc-c583af0ddf2f" providerId="ADAL" clId="{C1E26B80-9E14-4479-9694-990F20F05C7F}" dt="2025-11-28T14:53:13.250" v="1637"/>
          <ac:spMkLst>
            <pc:docMk/>
            <pc:sldMk cId="188303595" sldId="2147482720"/>
            <ac:spMk id="7" creationId="{32EDC9BF-834D-6576-D7CD-3A3621076129}"/>
          </ac:spMkLst>
        </pc:spChg>
      </pc:sldChg>
      <pc:sldChg chg="add del">
        <pc:chgData name="Yasmine AISSA" userId="c49615ed-9cc6-4a52-85fc-c583af0ddf2f" providerId="ADAL" clId="{C1E26B80-9E14-4479-9694-990F20F05C7F}" dt="2025-11-28T14:52:53.303" v="1635"/>
        <pc:sldMkLst>
          <pc:docMk/>
          <pc:sldMk cId="1688679459" sldId="214748272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infogreffevincennes-my.sharepoint.com/personal/yasmine_aissa-ext_infogreffe-siege_fr/Documents/Documents/T2/modif_T2_pcl_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infogreffevincennes-my.sharepoint.com/personal/yasmine_aissa-ext_infogreffe-siege_fr/Documents/Documents/T2/modif_T2_pcl_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4328703703703706E-2"/>
          <c:y val="0.24277016742770166"/>
          <c:w val="0.81134259259259256"/>
          <c:h val="0.533485540334855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 T2 2025</c:v>
                </c:pt>
              </c:strCache>
            </c:strRef>
          </c:tx>
          <c:dLbls>
            <c:dLbl>
              <c:idx val="0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515625"/>
                      <c:h val="6.49258739917784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80B-4E43-A911-4B8377577AB7}"/>
                </c:ext>
              </c:extLst>
            </c:dLbl>
            <c:dLbl>
              <c:idx val="1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3071504082823"/>
                      <c:h val="0.124143835616438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80B-4E43-A911-4B8377577AB7}"/>
                </c:ext>
              </c:extLst>
            </c:dLbl>
            <c:dLbl>
              <c:idx val="2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661759076990373"/>
                      <c:h val="0.1044045650115653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80B-4E43-A911-4B8377577AB7}"/>
                </c:ext>
              </c:extLst>
            </c:dLbl>
            <c:dLbl>
              <c:idx val="3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528657225138522"/>
                      <c:h val="8.46651445966514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80B-4E43-A911-4B8377577AB7}"/>
                </c:ext>
              </c:extLst>
            </c:dLbl>
            <c:dLbl>
              <c:idx val="4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10532407407404"/>
                      <c:h val="0.124143835616438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80B-4E43-A911-4B8377577AB7}"/>
                </c:ext>
              </c:extLst>
            </c:dLbl>
            <c:dLbl>
              <c:idx val="5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343171296296299"/>
                      <c:h val="8.46651445966514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80B-4E43-A911-4B8377577AB7}"/>
                </c:ext>
              </c:extLst>
            </c:dLbl>
            <c:dLbl>
              <c:idx val="6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881064997083698"/>
                      <c:h val="6.49258739917784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80B-4E43-A911-4B8377577AB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73-454B-845F-9E96BF25CC4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Société à responsabilité limitée</c:v>
                </c:pt>
                <c:pt idx="1">
                  <c:v>Société civile immobilière</c:v>
                </c:pt>
                <c:pt idx="2">
                  <c:v>Société par actions simplifiée</c:v>
                </c:pt>
                <c:pt idx="3">
                  <c:v>Commerçant</c:v>
                </c:pt>
                <c:pt idx="4">
                  <c:v>Autres formes juridiques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E-4308-9B15-BA8240536EB5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Évolution du nombre d'ouvertures de procédures collectives par principaux secteurs</c:v>
                </c:pt>
              </c:strCache>
            </c:strRef>
          </c:tx>
          <c:spPr>
            <a:solidFill>
              <a:srgbClr val="27374E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AA28-47AB-BD62-C796DF02864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AA28-47AB-BD62-C796DF02864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AA28-47AB-BD62-C796DF02864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AA28-47AB-BD62-C796DF028640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AA28-47AB-BD62-C796DF028640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AA28-47AB-BD62-C796DF028640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AA28-47AB-BD62-C796DF028640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AA28-47AB-BD62-C796DF02864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17.1%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28-47AB-BD62-C796DF02864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15.8%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28-47AB-BD62-C796DF02864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20.3%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A28-47AB-BD62-C796DF02864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0.5%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A28-47AB-BD62-C796DF02864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23.5%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A28-47AB-BD62-C796DF02864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16.9%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AA28-47AB-BD62-C796DF02864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10.4%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AA28-47AB-BD62-C796DF02864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25.2%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AA28-47AB-BD62-C796DF0286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AA28-47AB-BD62-C796DF0286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dLbl>
              <c:idx val="1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837962962962959"/>
                      <c:h val="0.10239726027397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A4A-48A6-943A-7D04C36B33E4}"/>
                </c:ext>
              </c:extLst>
            </c:dLbl>
            <c:dLbl>
              <c:idx val="2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84606481481478"/>
                      <c:h val="0.1100076103500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A4A-48A6-943A-7D04C36B33E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LIQUIDATION JUDICIAIRE</c:v>
                </c:pt>
                <c:pt idx="1">
                  <c:v>REDRESSEMENT JUDICIAIRE</c:v>
                </c:pt>
                <c:pt idx="2">
                  <c:v>PROCEDURE DE SAUVEGARDE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4A-48A6-943A-7D04C36B33E4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A1-4EA5-B993-5A5ACD07058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1A1-4EA5-B993-5A5ACD07058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1A1-4EA5-B993-5A5ACD07058C}"/>
              </c:ext>
            </c:extLst>
          </c:dPt>
          <c:dLbls>
            <c:dLbl>
              <c:idx val="0"/>
              <c:layout>
                <c:manualLayout>
                  <c:x val="-1.9358064929296124E-2"/>
                  <c:y val="-0.25317485700053494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61E5D1E-4D8C-4C1D-94EB-4AF9A17B8F17}" type="CATEGORYNAME">
                      <a:rPr lang="en-US"/>
                      <a:pPr>
                        <a:defRPr/>
                      </a:pPr>
                      <a:t>[NOM DE CATÉGORIE]</a:t>
                    </a:fld>
                    <a:r>
                      <a:rPr lang="en-US" baseline="0" dirty="0"/>
                      <a:t>
74%</a:t>
                    </a:r>
                  </a:p>
                </c:rich>
              </c:tx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113289"/>
                        <a:gd name="adj2" fmla="val 55238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1A1-4EA5-B993-5A5ACD07058C}"/>
                </c:ext>
              </c:extLst>
            </c:dLbl>
            <c:dLbl>
              <c:idx val="1"/>
              <c:layout>
                <c:manualLayout>
                  <c:x val="1.9590042866524982E-2"/>
                  <c:y val="7.359649197287845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43C12A1-2A3B-489D-A61F-8F6B6E89110F}" type="CATEGORYNAME">
                      <a:rPr lang="en-US"/>
                      <a:pPr>
                        <a:defRPr/>
                      </a:pPr>
                      <a:t>[NOM DE CATÉGORIE]</a:t>
                    </a:fld>
                    <a:r>
                      <a:rPr lang="en-US" baseline="0" dirty="0"/>
                      <a:t>
24%</a:t>
                    </a:r>
                  </a:p>
                </c:rich>
              </c:tx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19081"/>
                        <a:gd name="adj2" fmla="val 92609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1A1-4EA5-B993-5A5ACD07058C}"/>
                </c:ext>
              </c:extLst>
            </c:dLbl>
            <c:dLbl>
              <c:idx val="2"/>
              <c:layout>
                <c:manualLayout>
                  <c:x val="2.5497134510414139E-2"/>
                  <c:y val="-1.2352719749351161E-2"/>
                </c:manualLayout>
              </c:layout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03359"/>
                        <a:gd name="adj2" fmla="val -32942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91A1-4EA5-B993-5A5ACD07058C}"/>
                </c:ext>
              </c:extLst>
            </c:dLbl>
            <c:spPr>
              <a:noFill/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Feuil2!$D$5:$D$7</c:f>
              <c:strCache>
                <c:ptCount val="3"/>
                <c:pt idx="0">
                  <c:v>Liquidation judiciaire </c:v>
                </c:pt>
                <c:pt idx="1">
                  <c:v>Redressement judiciaire </c:v>
                </c:pt>
                <c:pt idx="2">
                  <c:v>Procédure de sauvegarde</c:v>
                </c:pt>
              </c:strCache>
            </c:strRef>
          </c:cat>
          <c:val>
            <c:numRef>
              <c:f>Feuil2!$E$5:$E$7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A1-4EA5-B993-5A5ACD070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5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A5-4566-A022-F31D39123E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A5-4566-A022-F31D39123EC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A5-4566-A022-F31D39123EC3}"/>
              </c:ext>
            </c:extLst>
          </c:dPt>
          <c:dLbls>
            <c:dLbl>
              <c:idx val="0"/>
              <c:layout>
                <c:manualLayout>
                  <c:x val="-3.900487877142763E-2"/>
                  <c:y val="-9.3481570449772566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4418DF0-446B-4C5E-BE35-6EDF72392CB5}" type="CATEGORYNAME">
                      <a:rPr lang="en-US"/>
                      <a:pPr>
                        <a:defRPr/>
                      </a:pPr>
                      <a:t>[NOM DE CATÉGORIE]</a:t>
                    </a:fld>
                    <a:r>
                      <a:rPr lang="en-US" baseline="0" dirty="0"/>
                      <a:t>
81%</a:t>
                    </a:r>
                  </a:p>
                </c:rich>
              </c:tx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184627"/>
                        <a:gd name="adj2" fmla="val 53692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1A5-4566-A022-F31D39123EC3}"/>
                </c:ext>
              </c:extLst>
            </c:dLbl>
            <c:dLbl>
              <c:idx val="1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1CFD96C-3040-4FB7-9BFC-148FA9A850A6}" type="CATEGORYNAME">
                      <a:rPr lang="en-US"/>
                      <a:pPr>
                        <a:defRPr/>
                      </a:pPr>
                      <a:t>[NOM DE CATÉGORIE]</a:t>
                    </a:fld>
                    <a:r>
                      <a:rPr lang="en-US" baseline="0" dirty="0"/>
                      <a:t>
33%</a:t>
                    </a:r>
                  </a:p>
                </c:rich>
              </c:tx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17408"/>
                        <a:gd name="adj2" fmla="val 48418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1A5-4566-A022-F31D39123EC3}"/>
                </c:ext>
              </c:extLst>
            </c:dLbl>
            <c:dLbl>
              <c:idx val="2"/>
              <c:layout>
                <c:manualLayout>
                  <c:x val="3.2121664870587451E-2"/>
                  <c:y val="2.2564517005117499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BE95442-90B6-4F01-A7CB-A7CDB9161AAC}" type="CATEGORYNAME">
                      <a:rPr lang="en-US" dirty="0"/>
                      <a:pPr>
                        <a:defRPr/>
                      </a:pPr>
                      <a:t>[NOM DE CATÉGORIE]</a:t>
                    </a:fld>
                    <a:r>
                      <a:rPr lang="en-US" baseline="0" dirty="0"/>
                      <a:t>
3%</a:t>
                    </a:r>
                  </a:p>
                </c:rich>
              </c:tx>
              <c:spPr>
                <a:noFill/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00541"/>
                        <a:gd name="adj2" fmla="val -93276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1A5-4566-A022-F31D39123EC3}"/>
                </c:ext>
              </c:extLst>
            </c:dLbl>
            <c:spPr>
              <a:noFill/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Feuil2!$G$8:$G$10</c:f>
              <c:strCache>
                <c:ptCount val="3"/>
                <c:pt idx="0">
                  <c:v>Liquidation judiciaire </c:v>
                </c:pt>
                <c:pt idx="1">
                  <c:v>Redressement judiciaire </c:v>
                </c:pt>
                <c:pt idx="2">
                  <c:v>Procédure de sauvegarde</c:v>
                </c:pt>
              </c:strCache>
            </c:strRef>
          </c:cat>
          <c:val>
            <c:numRef>
              <c:f>Feuil2!$H$8:$H$10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A5-4566-A022-F31D39123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34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Évolution du nombre d'ouvertures de procédures collectives par principaux secteurs</c:v>
                </c:pt>
              </c:strCache>
            </c:strRef>
          </c:tx>
          <c:spPr>
            <a:solidFill>
              <a:srgbClr val="002060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4F5E-40AA-8C01-06A68D0F9235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4F5E-40AA-8C01-06A68D0F9235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4F5E-40AA-8C01-06A68D0F9235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4F5E-40AA-8C01-06A68D0F9235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4F5E-40AA-8C01-06A68D0F9235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4F5E-40AA-8C01-06A68D0F9235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4F5E-40AA-8C01-06A68D0F9235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4F5E-40AA-8C01-06A68D0F923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90.7%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5E-40AA-8C01-06A68D0F92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23.1%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5E-40AA-8C01-06A68D0F92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31.3%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F5E-40AA-8C01-06A68D0F92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33.5%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F5E-40AA-8C01-06A68D0F92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23.7%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F5E-40AA-8C01-06A68D0F923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24.0%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F5E-40AA-8C01-06A68D0F923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10.2%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F5E-40AA-8C01-06A68D0F923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chemeClr val="tx1"/>
                        </a:solidFill>
                      </a:rPr>
                      <a:t>39.0%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F5E-40AA-8C01-06A68D0F92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4F5E-40AA-8C01-06A68D0F92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T3 2024</c:v>
                </c:pt>
              </c:strCache>
            </c:strRef>
          </c:tx>
          <c:spPr>
            <a:solidFill>
              <a:schemeClr val="tx2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475E-4857-87E5-B8210A6AAAED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475E-4857-87E5-B8210A6AAAED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475E-4857-87E5-B8210A6AAAED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475E-4857-87E5-B8210A6AAAED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4-475E-4857-87E5-B8210A6AAAED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475E-4857-87E5-B8210A6AAAED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6-475E-4857-87E5-B8210A6AAAED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475E-4857-87E5-B8210A6AAAED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8-475E-4857-87E5-B8210A6AAAED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475E-4857-87E5-B8210A6AAAED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A-475E-4857-87E5-B8210A6AAAED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475E-4857-87E5-B8210A6AAAED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C-475E-4857-87E5-B8210A6AAAED}"/>
              </c:ext>
            </c:extLst>
          </c:dPt>
          <c:dPt>
            <c:idx val="1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475E-4857-87E5-B8210A6AAAED}"/>
              </c:ext>
            </c:extLst>
          </c:dPt>
          <c:dPt>
            <c:idx val="1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E-475E-4857-87E5-B8210A6AAAED}"/>
              </c:ext>
            </c:extLst>
          </c:dPt>
          <c:dPt>
            <c:idx val="1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475E-4857-87E5-B8210A6AAAED}"/>
              </c:ext>
            </c:extLst>
          </c:dPt>
          <c:dPt>
            <c:idx val="1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0-475E-4857-87E5-B8210A6AAAED}"/>
              </c:ext>
            </c:extLst>
          </c:dPt>
          <c:dPt>
            <c:idx val="1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475E-4857-87E5-B8210A6AAAE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-18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5E-4857-87E5-B8210A6AAA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+14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5E-4857-87E5-B8210A6AAA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+70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5E-4857-87E5-B8210A6AAAE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-48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5E-4857-87E5-B8210A6AAAE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+23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5E-4857-87E5-B8210A6AAA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-29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5E-4857-87E5-B8210A6AAA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+16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5E-4857-87E5-B8210A6AAA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-5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5E-4857-87E5-B8210A6AAA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-58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75E-4857-87E5-B8210A6AAA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-259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75E-4857-87E5-B8210A6AAA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+14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75E-4857-87E5-B8210A6AAAED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+9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75E-4857-87E5-B8210A6AAAED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-1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475E-4857-87E5-B8210A6AAAED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+16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75E-4857-87E5-B8210A6AAAED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+137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475E-4857-87E5-B8210A6AAAED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+66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75E-4857-87E5-B8210A6AAAED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+8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475E-4857-87E5-B8210A6AAAED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+45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475E-4857-87E5-B8210A6AAAE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75E-4857-87E5-B8210A6AA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T3 2025</c:v>
                </c:pt>
              </c:strCache>
            </c:strRef>
          </c:tx>
          <c:spPr>
            <a:solidFill>
              <a:srgbClr val="4796D8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75E-4857-87E5-B8210A6AAAED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4-475E-4857-87E5-B8210A6AAAED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475E-4857-87E5-B8210A6AAAED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6-475E-4857-87E5-B8210A6AAAED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475E-4857-87E5-B8210A6AAAED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8-475E-4857-87E5-B8210A6AAAED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475E-4857-87E5-B8210A6AAAED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A-475E-4857-87E5-B8210A6AAAED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B-475E-4857-87E5-B8210A6AAAED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C-475E-4857-87E5-B8210A6AAAED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D-475E-4857-87E5-B8210A6AAAED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E-475E-4857-87E5-B8210A6AAAED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F-475E-4857-87E5-B8210A6AAAED}"/>
              </c:ext>
            </c:extLst>
          </c:dPt>
          <c:dPt>
            <c:idx val="1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0-475E-4857-87E5-B8210A6AAAED}"/>
              </c:ext>
            </c:extLst>
          </c:dPt>
          <c:dPt>
            <c:idx val="1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1-475E-4857-87E5-B8210A6AAAED}"/>
              </c:ext>
            </c:extLst>
          </c:dPt>
          <c:dPt>
            <c:idx val="1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2-475E-4857-87E5-B8210A6AAAED}"/>
              </c:ext>
            </c:extLst>
          </c:dPt>
          <c:dPt>
            <c:idx val="1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3-475E-4857-87E5-B8210A6AAAED}"/>
              </c:ext>
            </c:extLst>
          </c:dPt>
          <c:dPt>
            <c:idx val="1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4-475E-4857-87E5-B8210A6AAAE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-26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475E-4857-87E5-B8210A6AAA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-1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475E-4857-87E5-B8210A6AAA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+49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475E-4857-87E5-B8210A6AAAE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+4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475E-4857-87E5-B8210A6AAAE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+19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475E-4857-87E5-B8210A6AAA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-11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475E-4857-87E5-B8210A6AAA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+1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475E-4857-87E5-B8210A6AAA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+1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475E-4857-87E5-B8210A6AAA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-49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475E-4857-87E5-B8210A6AAA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-225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475E-4857-87E5-B8210A6AAA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+4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475E-4857-87E5-B8210A6AAAED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-9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475E-4857-87E5-B8210A6AAAED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-1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475E-4857-87E5-B8210A6AAAED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+16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475E-4857-87E5-B8210A6AAAED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+78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475E-4857-87E5-B8210A6AAAED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+85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475E-4857-87E5-B8210A6AAAED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+11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475E-4857-87E5-B8210A6AAAED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+54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475E-4857-87E5-B8210A6AAAE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475E-4857-87E5-B8210A6AAA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 formatCode="0%">
                  <c:v>0.05</c:v>
                </c:pt>
                <c:pt idx="4">
                  <c:v>0.05</c:v>
                </c:pt>
                <c:pt idx="5" formatCode="0%">
                  <c:v>0.05</c:v>
                </c:pt>
                <c:pt idx="6">
                  <c:v>0.05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C-4641-BF7C-30EA2B42F124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dLbl>
              <c:idx val="0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167245370370369"/>
                      <c:h val="0.117199391171993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2A0-4CC3-856D-99774FC2DA9C}"/>
                </c:ext>
              </c:extLst>
            </c:dLbl>
            <c:dLbl>
              <c:idx val="1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71064814814816"/>
                      <c:h val="0.117199391171993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2A0-4CC3-856D-99774FC2DA9C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0"/>
                  </a:pPr>
                  <a:endParaRPr lang="fr-F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65277777777782"/>
                      <c:h val="0.117199391171993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2A0-4CC3-856D-99774FC2DA9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Société à responsabilité limitée</c:v>
                </c:pt>
                <c:pt idx="1">
                  <c:v>Société par actions simplifiée</c:v>
                </c:pt>
                <c:pt idx="2">
                  <c:v>Autres formes juridiques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FE-4BCB-9212-1990B003AB7B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fld id="{408D40B9-A1FF-4712-8E6C-88E0A64427A2}" type="CATEGORYNAME">
                      <a:rPr lang="fr-FR"/>
                      <a:pPr/>
                      <a:t>[NOM DE CATÉGORIE]</a:t>
                    </a:fld>
                    <a:r>
                      <a:rPr lang="fr-FR" baseline="0"/>
                      <a:t>; 20,7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E15-4665-9162-7A75C96A9F6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ED0B4C1-E150-4886-8B7A-880D591A098D}" type="CATEGORYNAME">
                      <a:rPr lang="en-US"/>
                      <a:pPr/>
                      <a:t>[NOM DE CATÉGORIE]</a:t>
                    </a:fld>
                    <a:r>
                      <a:rPr lang="en-US" baseline="0"/>
                      <a:t>; 21,3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28819444444444"/>
                      <c:h val="7.411537170867339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E15-4665-9162-7A75C96A9F6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085611F-29BB-4975-B6E5-0A6D6D499FEF}" type="CATEGORYNAME">
                      <a:rPr lang="fr-FR"/>
                      <a:pPr/>
                      <a:t>[NOM DE CATÉGORIE]</a:t>
                    </a:fld>
                    <a:r>
                      <a:rPr lang="fr-FR" baseline="0" dirty="0"/>
                      <a:t>; 45,5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E15-4665-9162-7A75C96A9F6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BE0BC07-B163-43B1-A2A2-17B96B0C2722}" type="CATEGORYNAME">
                      <a:rPr lang="en-US"/>
                      <a:pPr/>
                      <a:t>[NOM DE CATÉGORIE]</a:t>
                    </a:fld>
                    <a:r>
                      <a:rPr lang="en-US" baseline="0"/>
                      <a:t>; 12,5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E15-4665-9162-7A75C96A9F6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Société à responsabilité limitée</c:v>
                </c:pt>
                <c:pt idx="1">
                  <c:v>Société civile immobilière</c:v>
                </c:pt>
                <c:pt idx="2">
                  <c:v>Société par actions simplifiée</c:v>
                </c:pt>
                <c:pt idx="3">
                  <c:v>Autres formes juridiques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15-4665-9162-7A75C96A9F6C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fld id="{408D40B9-A1FF-4712-8E6C-88E0A64427A2}" type="CATEGORYNAME">
                      <a:rPr lang="fr-FR"/>
                      <a:pPr/>
                      <a:t>[NOM DE CATÉGORIE]</a:t>
                    </a:fld>
                    <a:r>
                      <a:rPr lang="fr-FR" baseline="0"/>
                      <a:t>; 20,7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E15-4665-9162-7A75C96A9F6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ED0B4C1-E150-4886-8B7A-880D591A098D}" type="CATEGORYNAME">
                      <a:rPr lang="en-US"/>
                      <a:pPr/>
                      <a:t>[NOM DE CATÉGORIE]</a:t>
                    </a:fld>
                    <a:r>
                      <a:rPr lang="en-US" baseline="0"/>
                      <a:t>; 21,3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28819444444444"/>
                      <c:h val="7.411537170867339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E15-4665-9162-7A75C96A9F6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085611F-29BB-4975-B6E5-0A6D6D499FEF}" type="CATEGORYNAME">
                      <a:rPr lang="fr-FR"/>
                      <a:pPr/>
                      <a:t>[NOM DE CATÉGORIE]</a:t>
                    </a:fld>
                    <a:r>
                      <a:rPr lang="fr-FR" baseline="0" dirty="0"/>
                      <a:t>; 45,5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E15-4665-9162-7A75C96A9F6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BE0BC07-B163-43B1-A2A2-17B96B0C2722}" type="CATEGORYNAME">
                      <a:rPr lang="en-US"/>
                      <a:pPr/>
                      <a:t>[NOM DE CATÉGORIE]</a:t>
                    </a:fld>
                    <a:r>
                      <a:rPr lang="en-US" baseline="0"/>
                      <a:t>; 12,5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E15-4665-9162-7A75C96A9F6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Société à responsabilité limitée</c:v>
                </c:pt>
                <c:pt idx="1">
                  <c:v>Société civile immobilière</c:v>
                </c:pt>
                <c:pt idx="2">
                  <c:v>Société par actions simplifiée</c:v>
                </c:pt>
                <c:pt idx="3">
                  <c:v>Autres formes juridiques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15-4665-9162-7A75C96A9F6C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3A-412D-BA52-3D65575F8AD6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63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C236B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75CB-474F-9AC9-7F67CDC7B5C3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75CB-474F-9AC9-7F67CDC7B5C3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75CB-474F-9AC9-7F67CDC7B5C3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75CB-474F-9AC9-7F67CDC7B5C3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75CB-474F-9AC9-7F67CDC7B5C3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75CB-474F-9AC9-7F67CDC7B5C3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75CB-474F-9AC9-7F67CDC7B5C3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75CB-474F-9AC9-7F67CDC7B5C3}"/>
              </c:ext>
            </c:extLst>
          </c:dPt>
          <c:dLbls>
            <c:dLbl>
              <c:idx val="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7.9%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5CB-474F-9AC9-7F67CDC7B5C3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2.7%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5CB-474F-9AC9-7F67CDC7B5C3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10.8%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5CB-474F-9AC9-7F67CDC7B5C3}"/>
                </c:ext>
              </c:extLst>
            </c:dLbl>
            <c:dLbl>
              <c:idx val="3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5.9%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5CB-474F-9AC9-7F67CDC7B5C3}"/>
                </c:ext>
              </c:extLst>
            </c:dLbl>
            <c:dLbl>
              <c:idx val="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7.8%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5CB-474F-9AC9-7F67CDC7B5C3}"/>
                </c:ext>
              </c:extLst>
            </c:dLbl>
            <c:dLbl>
              <c:idx val="5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5.3%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5CB-474F-9AC9-7F67CDC7B5C3}"/>
                </c:ext>
              </c:extLst>
            </c:dLbl>
            <c:dLbl>
              <c:idx val="6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4.2%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5CB-474F-9AC9-7F67CDC7B5C3}"/>
                </c:ext>
              </c:extLst>
            </c:dLbl>
            <c:dLbl>
              <c:idx val="7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000" b="1">
                        <a:solidFill>
                          <a:schemeClr val="tx1"/>
                        </a:solidFill>
                      </a:rPr>
                      <a:t>9.5%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5CB-474F-9AC9-7F67CDC7B5C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75CB-474F-9AC9-7F67CDC7B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Société à responsabilité limitée</c:v>
                </c:pt>
                <c:pt idx="1">
                  <c:v>Société par actions simplifiée</c:v>
                </c:pt>
                <c:pt idx="2">
                  <c:v>Autres formes juridiques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F-435D-B19D-8B61A937F3C2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63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C236B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024-4457-BC39-157C1421BE7D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024-4457-BC39-157C1421BE7D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0024-4457-BC39-157C1421BE7D}"/>
              </c:ext>
            </c:extLst>
          </c:dPt>
          <c:dLbls>
            <c:dLbl>
              <c:idx val="0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100" b="1">
                        <a:solidFill>
                          <a:schemeClr val="tx1"/>
                        </a:solidFill>
                      </a:rPr>
                      <a:t>3.5%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024-4457-BC39-157C1421BE7D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100" b="1">
                        <a:solidFill>
                          <a:schemeClr val="tx1"/>
                        </a:solidFill>
                      </a:rPr>
                      <a:t>11.3%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024-4457-BC39-157C1421BE7D}"/>
                </c:ext>
              </c:extLst>
            </c:dLbl>
            <c:dLbl>
              <c:idx val="2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solidFill>
                          <a:schemeClr val="tx1"/>
                        </a:solidFill>
                      </a:defRPr>
                    </a:pPr>
                    <a:r>
                      <a:rPr lang="en-US" sz="1100" b="1">
                        <a:solidFill>
                          <a:schemeClr val="tx1"/>
                        </a:solidFill>
                      </a:rPr>
                      <a:t>4.3%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024-4457-BC39-157C1421BE7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Société à responsabilité limitée</c:v>
                </c:pt>
                <c:pt idx="1">
                  <c:v>Société par actions simplifiée</c:v>
                </c:pt>
                <c:pt idx="2">
                  <c:v>Autres formes juridiques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024-4457-BC39-157C1421BE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C236B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6E71-4689-BF54-BE72979F416D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6E71-4689-BF54-BE72979F416D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6E71-4689-BF54-BE72979F416D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6E71-4689-BF54-BE72979F416D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6E71-4689-BF54-BE72979F416D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6E71-4689-BF54-BE72979F416D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6E71-4689-BF54-BE72979F416D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6E71-4689-BF54-BE72979F416D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6E71-4689-BF54-BE72979F416D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6E71-4689-BF54-BE72979F416D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6E71-4689-BF54-BE72979F416D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6E71-4689-BF54-BE72979F416D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6E71-4689-BF54-BE72979F416D}"/>
              </c:ext>
            </c:extLst>
          </c:dPt>
          <c:dPt>
            <c:idx val="1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B-6E71-4689-BF54-BE72979F416D}"/>
              </c:ext>
            </c:extLst>
          </c:dPt>
          <c:dPt>
            <c:idx val="1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D-6E71-4689-BF54-BE72979F416D}"/>
              </c:ext>
            </c:extLst>
          </c:dPt>
          <c:dPt>
            <c:idx val="1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F-6E71-4689-BF54-BE72979F416D}"/>
              </c:ext>
            </c:extLst>
          </c:dPt>
          <c:dPt>
            <c:idx val="1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1-6E71-4689-BF54-BE72979F416D}"/>
              </c:ext>
            </c:extLst>
          </c:dPt>
          <c:dPt>
            <c:idx val="1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3-6E71-4689-BF54-BE72979F41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+8.9%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E71-4689-BF54-BE72979F41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71-4689-BF54-BE72979F41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+6.2%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E71-4689-BF54-BE72979F41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E71-4689-BF54-BE72979F416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E71-4689-BF54-BE72979F416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E71-4689-BF54-BE72979F416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+3.0%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E71-4689-BF54-BE72979F416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+14.8%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E71-4689-BF54-BE72979F416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-0.7%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6E71-4689-BF54-BE72979F416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+11.0%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6E71-4689-BF54-BE72979F416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+4.7%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6E71-4689-BF54-BE72979F416D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+26.8%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6E71-4689-BF54-BE72979F416D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+41.1%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6E71-4689-BF54-BE72979F416D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+0.3%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6E71-4689-BF54-BE72979F416D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+9.6%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6E71-4689-BF54-BE72979F416D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+5.8%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6E71-4689-BF54-BE72979F416D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+9.4%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6E71-4689-BF54-BE72979F416D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+3.6%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6E71-4689-BF54-BE72979F41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24-6E71-4689-BF54-BE72979F41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 à mission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1-5A54-42ED-BEE2-034607BFE3BC}"/>
              </c:ext>
            </c:extLst>
          </c:dPt>
          <c:dPt>
            <c:idx val="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03-5A54-42ED-BEE2-034607BFE3BC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T3 2024</c:v>
                </c:pt>
                <c:pt idx="1">
                  <c:v>T3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54-42ED-BEE2-034607BFE3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2060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85B-400A-ADE6-217E29A9974B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85B-400A-ADE6-217E29A9974B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85B-400A-ADE6-217E29A9974B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85B-400A-ADE6-217E29A9974B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985B-400A-ADE6-217E29A9974B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85B-400A-ADE6-217E29A9974B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985B-400A-ADE6-217E29A9974B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985B-400A-ADE6-217E29A9974B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985B-400A-ADE6-217E29A9974B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985B-400A-ADE6-217E29A9974B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985B-400A-ADE6-217E29A9974B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985B-400A-ADE6-217E29A9974B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985B-400A-ADE6-217E29A9974B}"/>
              </c:ext>
            </c:extLst>
          </c:dPt>
          <c:dPt>
            <c:idx val="1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B-985B-400A-ADE6-217E29A9974B}"/>
              </c:ext>
            </c:extLst>
          </c:dPt>
          <c:dPt>
            <c:idx val="1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D-985B-400A-ADE6-217E29A9974B}"/>
              </c:ext>
            </c:extLst>
          </c:dPt>
          <c:dPt>
            <c:idx val="1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F-985B-400A-ADE6-217E29A9974B}"/>
              </c:ext>
            </c:extLst>
          </c:dPt>
          <c:dPt>
            <c:idx val="1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1-985B-400A-ADE6-217E29A9974B}"/>
              </c:ext>
            </c:extLst>
          </c:dPt>
          <c:dPt>
            <c:idx val="1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3-985B-400A-ADE6-217E29A9974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85B-400A-ADE6-217E29A9974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85B-400A-ADE6-217E29A9974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85B-400A-ADE6-217E29A9974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85B-400A-ADE6-217E29A9974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85B-400A-ADE6-217E29A9974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985B-400A-ADE6-217E29A9974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85B-400A-ADE6-217E29A9974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985B-400A-ADE6-217E29A9974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85B-400A-ADE6-217E29A9974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48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985B-400A-ADE6-217E29A9974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985B-400A-ADE6-217E29A9974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985B-400A-ADE6-217E29A9974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985B-400A-ADE6-217E29A9974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985B-400A-ADE6-217E29A9974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985B-400A-ADE6-217E29A9974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985B-400A-ADE6-217E29A9974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985B-400A-ADE6-217E29A9974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985B-400A-ADE6-217E29A997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24-985B-400A-ADE6-217E29A997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6-985B-400A-ADE6-217E29A9974B}"/>
              </c:ext>
            </c:extLst>
          </c:dPt>
          <c:dPt>
            <c:idx val="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8-985B-400A-ADE6-217E29A9974B}"/>
              </c:ext>
            </c:extLst>
          </c:dPt>
          <c:dPt>
            <c:idx val="2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A-985B-400A-ADE6-217E29A9974B}"/>
              </c:ext>
            </c:extLst>
          </c:dPt>
          <c:dPt>
            <c:idx val="3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C-985B-400A-ADE6-217E29A9974B}"/>
              </c:ext>
            </c:extLst>
          </c:dPt>
          <c:dPt>
            <c:idx val="4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E-985B-400A-ADE6-217E29A9974B}"/>
              </c:ext>
            </c:extLst>
          </c:dPt>
          <c:dPt>
            <c:idx val="5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0-985B-400A-ADE6-217E29A9974B}"/>
              </c:ext>
            </c:extLst>
          </c:dPt>
          <c:dPt>
            <c:idx val="6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2-985B-400A-ADE6-217E29A9974B}"/>
              </c:ext>
            </c:extLst>
          </c:dPt>
          <c:dPt>
            <c:idx val="7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4-985B-400A-ADE6-217E29A9974B}"/>
              </c:ext>
            </c:extLst>
          </c:dPt>
          <c:dPt>
            <c:idx val="8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6-985B-400A-ADE6-217E29A9974B}"/>
              </c:ext>
            </c:extLst>
          </c:dPt>
          <c:dPt>
            <c:idx val="9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8-985B-400A-ADE6-217E29A9974B}"/>
              </c:ext>
            </c:extLst>
          </c:dPt>
          <c:dPt>
            <c:idx val="10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A-985B-400A-ADE6-217E29A9974B}"/>
              </c:ext>
            </c:extLst>
          </c:dPt>
          <c:dPt>
            <c:idx val="1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C-985B-400A-ADE6-217E29A9974B}"/>
              </c:ext>
            </c:extLst>
          </c:dPt>
          <c:dPt>
            <c:idx val="12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E-985B-400A-ADE6-217E29A9974B}"/>
              </c:ext>
            </c:extLst>
          </c:dPt>
          <c:dPt>
            <c:idx val="13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0-985B-400A-ADE6-217E29A9974B}"/>
              </c:ext>
            </c:extLst>
          </c:dPt>
          <c:dPt>
            <c:idx val="14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2-985B-400A-ADE6-217E29A9974B}"/>
              </c:ext>
            </c:extLst>
          </c:dPt>
          <c:dPt>
            <c:idx val="15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4-985B-400A-ADE6-217E29A9974B}"/>
              </c:ext>
            </c:extLst>
          </c:dPt>
          <c:dPt>
            <c:idx val="16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6-985B-400A-ADE6-217E29A9974B}"/>
              </c:ext>
            </c:extLst>
          </c:dPt>
          <c:dPt>
            <c:idx val="17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8-985B-400A-ADE6-217E29A9974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985B-400A-ADE6-217E29A9974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985B-400A-ADE6-217E29A9974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985B-400A-ADE6-217E29A9974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985B-400A-ADE6-217E29A9974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985B-400A-ADE6-217E29A9974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985B-400A-ADE6-217E29A9974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985B-400A-ADE6-217E29A9974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985B-400A-ADE6-217E29A9974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985B-400A-ADE6-217E29A9974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985B-400A-ADE6-217E29A9974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985B-400A-ADE6-217E29A9974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985B-400A-ADE6-217E29A9974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985B-400A-ADE6-217E29A9974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985B-400A-ADE6-217E29A9974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985B-400A-ADE6-217E29A9974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985B-400A-ADE6-217E29A9974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985B-400A-ADE6-217E29A9974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985B-400A-ADE6-217E29A997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9-985B-400A-ADE6-217E29A997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4-43AD-942B-FCE33CCCB270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 de l'ESS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C236B"/>
              </a:solidFill>
            </c:spPr>
            <c:extLst>
              <c:ext xmlns:c16="http://schemas.microsoft.com/office/drawing/2014/chart" uri="{C3380CC4-5D6E-409C-BE32-E72D297353CC}">
                <c16:uniqueId val="{00000001-0CEF-4BF7-AD23-31E9D04DBDEB}"/>
              </c:ext>
            </c:extLst>
          </c:dPt>
          <c:dPt>
            <c:idx val="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03-0CEF-4BF7-AD23-31E9D04DBDEB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T3 2024</c:v>
                </c:pt>
                <c:pt idx="1">
                  <c:v>T3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EF-4BF7-AD23-31E9D04DBD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C236B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92E-420E-8892-3392AE552CCA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92E-420E-8892-3392AE552CCA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092E-420E-8892-3392AE552CCA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092E-420E-8892-3392AE552CCA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092E-420E-8892-3392AE552CCA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092E-420E-8892-3392AE552CCA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092E-420E-8892-3392AE552CCA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092E-420E-8892-3392AE552CCA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092E-420E-8892-3392AE552CCA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092E-420E-8892-3392AE552CCA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092E-420E-8892-3392AE552CCA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092E-420E-8892-3392AE552CCA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092E-420E-8892-3392AE552CCA}"/>
              </c:ext>
            </c:extLst>
          </c:dPt>
          <c:dPt>
            <c:idx val="1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B-092E-420E-8892-3392AE552CCA}"/>
              </c:ext>
            </c:extLst>
          </c:dPt>
          <c:dPt>
            <c:idx val="1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D-092E-420E-8892-3392AE552CCA}"/>
              </c:ext>
            </c:extLst>
          </c:dPt>
          <c:dPt>
            <c:idx val="1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F-092E-420E-8892-3392AE552CCA}"/>
              </c:ext>
            </c:extLst>
          </c:dPt>
          <c:dPt>
            <c:idx val="1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1-092E-420E-8892-3392AE552CCA}"/>
              </c:ext>
            </c:extLst>
          </c:dPt>
          <c:dPt>
            <c:idx val="1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23-092E-420E-8892-3392AE552CC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66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92E-420E-8892-3392AE552CC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92E-420E-8892-3392AE552CC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92E-420E-8892-3392AE552CC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92E-420E-8892-3392AE552C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92E-420E-8892-3392AE552CC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92E-420E-8892-3392AE552CC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92E-420E-8892-3392AE552CC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92E-420E-8892-3392AE552CC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92E-420E-8892-3392AE552CC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54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92E-420E-8892-3392AE552CC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092E-420E-8892-3392AE552CC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092E-420E-8892-3392AE552CC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092E-420E-8892-3392AE552CC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092E-420E-8892-3392AE552CC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092E-420E-8892-3392AE552CC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43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092E-420E-8892-3392AE552CC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092E-420E-8892-3392AE552CC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092E-420E-8892-3392AE552CC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24-092E-420E-8892-3392AE552C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6-092E-420E-8892-3392AE552CCA}"/>
              </c:ext>
            </c:extLst>
          </c:dPt>
          <c:dPt>
            <c:idx val="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8-092E-420E-8892-3392AE552CCA}"/>
              </c:ext>
            </c:extLst>
          </c:dPt>
          <c:dPt>
            <c:idx val="2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A-092E-420E-8892-3392AE552CCA}"/>
              </c:ext>
            </c:extLst>
          </c:dPt>
          <c:dPt>
            <c:idx val="3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C-092E-420E-8892-3392AE552CCA}"/>
              </c:ext>
            </c:extLst>
          </c:dPt>
          <c:dPt>
            <c:idx val="4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2E-092E-420E-8892-3392AE552CCA}"/>
              </c:ext>
            </c:extLst>
          </c:dPt>
          <c:dPt>
            <c:idx val="5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0-092E-420E-8892-3392AE552CCA}"/>
              </c:ext>
            </c:extLst>
          </c:dPt>
          <c:dPt>
            <c:idx val="6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2-092E-420E-8892-3392AE552CCA}"/>
              </c:ext>
            </c:extLst>
          </c:dPt>
          <c:dPt>
            <c:idx val="7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4-092E-420E-8892-3392AE552CCA}"/>
              </c:ext>
            </c:extLst>
          </c:dPt>
          <c:dPt>
            <c:idx val="8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6-092E-420E-8892-3392AE552CCA}"/>
              </c:ext>
            </c:extLst>
          </c:dPt>
          <c:dPt>
            <c:idx val="9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8-092E-420E-8892-3392AE552CCA}"/>
              </c:ext>
            </c:extLst>
          </c:dPt>
          <c:dPt>
            <c:idx val="10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A-092E-420E-8892-3392AE552CCA}"/>
              </c:ext>
            </c:extLst>
          </c:dPt>
          <c:dPt>
            <c:idx val="11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C-092E-420E-8892-3392AE552CCA}"/>
              </c:ext>
            </c:extLst>
          </c:dPt>
          <c:dPt>
            <c:idx val="12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3E-092E-420E-8892-3392AE552CCA}"/>
              </c:ext>
            </c:extLst>
          </c:dPt>
          <c:dPt>
            <c:idx val="13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0-092E-420E-8892-3392AE552CCA}"/>
              </c:ext>
            </c:extLst>
          </c:dPt>
          <c:dPt>
            <c:idx val="14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2-092E-420E-8892-3392AE552CCA}"/>
              </c:ext>
            </c:extLst>
          </c:dPt>
          <c:dPt>
            <c:idx val="15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4-092E-420E-8892-3392AE552CCA}"/>
              </c:ext>
            </c:extLst>
          </c:dPt>
          <c:dPt>
            <c:idx val="16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6-092E-420E-8892-3392AE552CCA}"/>
              </c:ext>
            </c:extLst>
          </c:dPt>
          <c:dPt>
            <c:idx val="17"/>
            <c:invertIfNegative val="1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48-092E-420E-8892-3392AE552CC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/>
                      <a:t>124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092E-420E-8892-3392AE552CC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/>
                      <a:t>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092E-420E-8892-3392AE552CC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/>
                      <a:t>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092E-420E-8892-3392AE552CC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/>
                      <a:t>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092E-420E-8892-3392AE552C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/>
                      <a:t>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092E-420E-8892-3392AE552CC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/>
                      <a:t>26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092E-420E-8892-3392AE552CC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/>
                      <a:t>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092E-420E-8892-3392AE552CC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092E-420E-8892-3392AE552CC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/>
                      <a:t>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092E-420E-8892-3392AE552CC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900" b="1"/>
                      <a:t>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092E-420E-8892-3392AE552CC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900" b="1"/>
                      <a:t>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092E-420E-8892-3392AE552CC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900" b="1"/>
                      <a:t>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092E-420E-8892-3392AE552CC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900" b="1"/>
                      <a:t>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092E-420E-8892-3392AE552CC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900" b="1"/>
                      <a:t>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092E-420E-8892-3392AE552CC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900" b="1"/>
                      <a:t>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092E-420E-8892-3392AE552CC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900" b="1"/>
                      <a:t>41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092E-420E-8892-3392AE552CC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900" b="1"/>
                      <a:t>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092E-420E-8892-3392AE552CC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900" b="1"/>
                      <a:t>55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092E-420E-8892-3392AE552CC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Auvergne-Rhône-Alpes</c:v>
                </c:pt>
                <c:pt idx="1">
                  <c:v>Bourgogne-Franche-Comté</c:v>
                </c:pt>
                <c:pt idx="2">
                  <c:v>Bretagne</c:v>
                </c:pt>
                <c:pt idx="3">
                  <c:v>Centre - Val de Loire</c:v>
                </c:pt>
                <c:pt idx="4">
                  <c:v>Corse</c:v>
                </c:pt>
                <c:pt idx="5">
                  <c:v>Grand Est</c:v>
                </c:pt>
                <c:pt idx="6">
                  <c:v>Guadeloupe</c:v>
                </c:pt>
                <c:pt idx="7">
                  <c:v>Guyane</c:v>
                </c:pt>
                <c:pt idx="8">
                  <c:v>Hauts-De-France</c:v>
                </c:pt>
                <c:pt idx="9">
                  <c:v>Ile-de-France</c:v>
                </c:pt>
                <c:pt idx="10">
                  <c:v>La Réunion</c:v>
                </c:pt>
                <c:pt idx="11">
                  <c:v>Martinique</c:v>
                </c:pt>
                <c:pt idx="12">
                  <c:v>Mayotte</c:v>
                </c:pt>
                <c:pt idx="13">
                  <c:v>Normandie</c:v>
                </c:pt>
                <c:pt idx="14">
                  <c:v>Nouvelle Aquitaine</c:v>
                </c:pt>
                <c:pt idx="15">
                  <c:v>Occitanie</c:v>
                </c:pt>
                <c:pt idx="16">
                  <c:v>Pays de la Loire</c:v>
                </c:pt>
                <c:pt idx="17">
                  <c:v>Provence-Alpes-Côte d'Azur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9-092E-420E-8892-3392AE552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 b="1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/>
                </a:pPr>
                <a:endParaRPr lang="fr-F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ACTIVITÉS IMMOBILIÈRES</c:v>
                </c:pt>
                <c:pt idx="1">
                  <c:v>COMMERCE , RÉPARATION D'AUTOMOBILES ET DE MOTOCYCLES</c:v>
                </c:pt>
                <c:pt idx="2">
                  <c:v>ACTIVITÉS SPÉCIALISÉES, SCIENTIFIQUES ET TECHNIQUES</c:v>
                </c:pt>
                <c:pt idx="3">
                  <c:v>TRANSPORTS ET ENTREPOSAGE</c:v>
                </c:pt>
                <c:pt idx="4">
                  <c:v>ACTIVITÉS DE SERVICES ADMINISTRATIFS ET DE SOUTIEN</c:v>
                </c:pt>
                <c:pt idx="5">
                  <c:v>HÉBERGEMENT ET RESTAURATION</c:v>
                </c:pt>
                <c:pt idx="6">
                  <c:v>CONSTRUCTION</c:v>
                </c:pt>
                <c:pt idx="7">
                  <c:v>Autres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4-43AD-942B-FCE33CCCB270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0C341-CBD0-44EB-92C6-E3537FC82E53}" type="datetimeFigureOut">
              <a:t>28/11/2025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F66B-F9B5-4C55-9487-9B736C4268C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BEF0E-C6BC-3FA9-8DFF-C2198B3D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7F5B3B-F69A-D095-7BFE-EA327B296C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3EAFB3-5015-6922-298B-C6EF2623DC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ADB075-AFB0-46A1-9838-FAF2A84BDDAD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74C7-F913-F604-1439-E6F1E2E6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591EA7-4D49-34EF-F141-EADA437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9A01B-E266-6530-AADD-CC2CDEF9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25431-7EA8-3B7F-2C1C-424FA656A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8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9E0-DFCA-A75F-FCBE-ECAE17E2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529F11-D707-821B-7B7F-2509A611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5D5EF0-27AE-A4A3-195A-567E44F82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95ACBE-8E81-EFE9-EB7D-5572EA1B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1001-580A-1C96-D397-F65972F3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798217-DCFE-6C2A-0C34-834C59A1A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B9E885-9EAF-D5B6-58C6-CF7583E77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814004-E1B3-7861-9D0D-14E172F04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22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625E-6CD3-0549-4B16-D5C84027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21C4DA-94B4-969D-EF49-80B0E6D2A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1637AF-7BA3-06EA-A96F-BF9492728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C29E23-36A0-58D9-EEEA-F28855553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33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1EB4-36E2-EDA0-8F73-2FDB543B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B5BDA3-A58C-6A01-A99C-2AC8D10D9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5D0421E-64A0-42B9-0A0D-D55AEC6A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61F9A4-AE6C-B7E4-3FC5-D3080B53A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874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46E1-6270-EA0A-C484-449116E2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54B900-BC3F-D842-1C8D-6CD7FF011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42C442F-21EE-6EBB-5FFC-BE790B3A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EA6C4B-57E3-0034-F0BD-956C4F942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443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6730-1572-BF55-5D9B-1CDA6D29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1DE89C-13CD-77C0-A943-519447318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FBFDCD-9924-65EC-5563-5354B69AD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A16841-DD49-F16B-0EA1-6AB000ECB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963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E8E4-31CE-1C86-A470-186A54D2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FFE9CB-AABD-A247-4853-2363380BF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0525C8-D5B1-02F2-E9B4-162E8FCEC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D5FD7B-FC0B-6507-2B63-BF6E47B0F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859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A2B4-5250-463D-4937-59333C74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72DAA5C-20AA-01CB-D466-9D3A72DE9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DFDC47-D8FD-806B-81CA-4370AB268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CD949F-7C7B-4DCE-BC2F-48AF66BBB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857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1BE57-E2C8-4812-0CFF-4066676C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4DC8C5-C85C-3EED-06D6-726357044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1F4A20-3DA6-D57C-E50E-928F8E7D3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4778D9-536B-82C5-20EE-6CBBDE658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354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B6D1-BBEE-1CF9-A681-2BB83DED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04FE23-4A2A-4B5C-6FBA-4098F6055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0C10B7-9CAE-B2CF-E5E9-6E0747C28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E181E-2FE8-E200-F102-8594E4075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01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17860-BA1F-4537-76EF-B8E744CA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491B16-7353-EE52-E2BE-340EA6A61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7543D1-435D-2965-C8DB-531FA5C2E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56FCB-C5D3-AF17-CF19-51FD77734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621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9C84-5AFA-106F-7C24-4C8A7FAB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D2DCE4-B951-58A1-8C8D-B7FF2B595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685E4E-7086-9AA2-6842-A69FFED1A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49D9FF-66C9-2AE1-22B0-D4D59B5F6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004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294F1-F773-5FDC-0A55-6CE3E53B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B1E123-07F4-D7EE-9879-FDEE49BC6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2411A5E-EBDB-F5AE-6F43-1678EF918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DB10F5-6DE4-826C-E061-1530C10F4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157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A3F5-E5C4-2439-4BB0-F3FCE8F0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CCE2B1-3E39-10CA-B394-94319F218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0292F4-50C1-3EB4-7E9F-B59D1B578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AB959D-5E74-18DF-3401-D345ABAD7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023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BBB3-918D-A0B3-66C8-45195C27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2B6A28-9120-C06C-EF3C-45210726D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B5113B-1453-6D36-2690-F8229F32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1F5CBD-7325-CE38-454D-5151FE900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448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BF7A-A70E-521B-6307-AD2C6743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94C1D3-AFEA-DDC9-FBBD-870D65E05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DE88707-43DF-2DB6-D7FB-0067712F7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C5F8BA-E0E5-271B-DC48-E19A67F26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311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3C17-D748-BA88-0BC0-E3BD7327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D74C06-C349-E95B-9A0F-125BFCDEC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C2732D-6EC8-C749-797B-475C3BE97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381517-B1BC-9846-A61A-FA26AADF2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0C1E2-CAED-451B-AFF3-18A69225B3B7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946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47DA-C9B8-17CA-0EBB-FFD49C19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B2DB0A-C20D-4EE8-1B58-07DF5F93F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3152EC-4687-CA08-7A3F-E8E312F83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93B29A-C233-70E2-442A-7D207641E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0C1E2-CAED-451B-AFF3-18A69225B3B7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281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738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E917-6E44-B470-0F36-4AD7E06D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26A195-BD86-8495-6040-02BA6F18F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ABA78F-8527-F519-6642-8BBB4A067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8D9BEA-36BF-B8E0-148A-DE1A98C70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239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D13B-DC1D-3D52-A5B0-DA8E61F6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79E096-859D-8BAB-DFB0-F54C1C01B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AB264E-568D-9EB8-C5AD-D5C337714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1ED5E2-628C-E2A5-2A84-C29A65AE6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898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D4D1-427C-BD3F-7CBD-898A4C74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3094BD-BD77-7D46-2B3D-980807B21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611FA9-7D2D-31F5-489F-921D3FEA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85BE51-6F02-900C-D948-F3C9C4EED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483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D8F0-4000-0DD2-67D7-08F44BE3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758283-B660-FEC6-EDD4-E4EB6C185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5600FF8-A953-ED2F-6698-ABAA8ABC8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00E230-7F88-0FD1-DB32-06C76F4CA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4F66B-F9B5-4C55-9487-9B736C4268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215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652-86E6-6313-CF45-2FEA0A16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040426-492A-EB45-4954-5BF52210E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2C1E6E-FDD0-6F0A-42D9-5BEDEE302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CE41D2-035C-551B-3B6A-CCC221C45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4F66B-F9B5-4C55-9487-9B736C4268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66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 couleur">
    <p:bg>
      <p:bgPr>
        <a:solidFill>
          <a:srgbClr val="469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Une image contenant capture d’écran, conception, verre, art&#10;&#10;Description générée automatiquement">
            <a:extLst>
              <a:ext uri="{FF2B5EF4-FFF2-40B4-BE49-F238E27FC236}">
                <a16:creationId xmlns:a16="http://schemas.microsoft.com/office/drawing/2014/main" id="{859F0A23-531B-F311-040E-141926C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5" y="0"/>
            <a:ext cx="12181161" cy="68519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orme libre 27">
            <a:extLst>
              <a:ext uri="{FF2B5EF4-FFF2-40B4-BE49-F238E27FC236}">
                <a16:creationId xmlns:a16="http://schemas.microsoft.com/office/drawing/2014/main" id="{15B3C033-0960-C668-C726-4383861A76A5}"/>
              </a:ext>
            </a:extLst>
          </p:cNvPr>
          <p:cNvSpPr/>
          <p:nvPr/>
        </p:nvSpPr>
        <p:spPr>
          <a:xfrm>
            <a:off x="-12024" y="-12701"/>
            <a:ext cx="12204021" cy="68707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900416"/>
              <a:gd name="f7" fmla="val 6851904"/>
              <a:gd name="f8" fmla="val 1048512"/>
              <a:gd name="f9" fmla="val 182880"/>
              <a:gd name="f10" fmla="+- 0 0 -90"/>
              <a:gd name="f11" fmla="*/ f3 1 7900416"/>
              <a:gd name="f12" fmla="*/ f4 1 6851904"/>
              <a:gd name="f13" fmla="+- f7 0 f5"/>
              <a:gd name="f14" fmla="+- f6 0 f5"/>
              <a:gd name="f15" fmla="*/ f10 f0 1"/>
              <a:gd name="f16" fmla="*/ f14 1 7900416"/>
              <a:gd name="f17" fmla="*/ f13 1 6851904"/>
              <a:gd name="f18" fmla="*/ 7900416 f14 1"/>
              <a:gd name="f19" fmla="*/ 0 f13 1"/>
              <a:gd name="f20" fmla="*/ 1048512 f14 1"/>
              <a:gd name="f21" fmla="*/ 6851904 f13 1"/>
              <a:gd name="f22" fmla="*/ 0 f14 1"/>
              <a:gd name="f23" fmla="*/ 182880 f14 1"/>
              <a:gd name="f24" fmla="*/ f15 1 f2"/>
              <a:gd name="f25" fmla="*/ f18 1 7900416"/>
              <a:gd name="f26" fmla="*/ f19 1 6851904"/>
              <a:gd name="f27" fmla="*/ f20 1 7900416"/>
              <a:gd name="f28" fmla="*/ f21 1 6851904"/>
              <a:gd name="f29" fmla="*/ f22 1 7900416"/>
              <a:gd name="f30" fmla="*/ f23 1 790041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7"/>
              <a:gd name="f40" fmla="*/ f29 1 f16"/>
              <a:gd name="f41" fmla="*/ f30 1 f16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2 1"/>
              <a:gd name="f50" fmla="*/ f40 f11 1"/>
              <a:gd name="f51" fmla="*/ f41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9"/>
              </a:cxn>
              <a:cxn ang="f35">
                <a:pos x="f50" y="f49"/>
              </a:cxn>
              <a:cxn ang="f35">
                <a:pos x="f50" y="f47"/>
              </a:cxn>
              <a:cxn ang="f35">
                <a:pos x="f51" y="f47"/>
              </a:cxn>
              <a:cxn ang="f35">
                <a:pos x="f46" y="f47"/>
              </a:cxn>
            </a:cxnLst>
            <a:rect l="f42" t="f45" r="f43" b="f44"/>
            <a:pathLst>
              <a:path w="7900416" h="6851904">
                <a:moveTo>
                  <a:pt x="f6" y="f5"/>
                </a:moveTo>
                <a:lnTo>
                  <a:pt x="f8" y="f7"/>
                </a:lnTo>
                <a:lnTo>
                  <a:pt x="f5" y="f7"/>
                </a:lnTo>
                <a:lnTo>
                  <a:pt x="f5" y="f5"/>
                </a:lnTo>
                <a:lnTo>
                  <a:pt x="f9" y="f5"/>
                </a:lnTo>
                <a:lnTo>
                  <a:pt x="f6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buNone/>
            </a:pPr>
            <a:endParaRPr lang="fr-FR"/>
          </a:p>
          <a:p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ACAFF8-5FAF-3A4C-FD9F-0C2AF84F3148}"/>
              </a:ext>
            </a:extLst>
          </p:cNvPr>
          <p:cNvSpPr>
            <a:spLocks noMove="1" noResize="1"/>
          </p:cNvSpPr>
          <p:nvPr/>
        </p:nvSpPr>
        <p:spPr>
          <a:xfrm>
            <a:off x="6272692" y="-1487536"/>
            <a:ext cx="6259552" cy="9155155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      </a:t>
            </a:r>
          </a:p>
        </p:txBody>
      </p:sp>
      <p:pic>
        <p:nvPicPr>
          <p:cNvPr id="6" name="Image 20" descr="Une image contenant Police, capture d’écran, texte, Graphique&#10;&#10;Description générée automatiquement">
            <a:extLst>
              <a:ext uri="{FF2B5EF4-FFF2-40B4-BE49-F238E27FC236}">
                <a16:creationId xmlns:a16="http://schemas.microsoft.com/office/drawing/2014/main" id="{98EF276E-668C-4054-FACF-3288B96275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430" y="-101909"/>
            <a:ext cx="2778651" cy="1547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AF016-717A-AD95-5291-C0F4D2AC35DF}"/>
              </a:ext>
            </a:extLst>
          </p:cNvPr>
          <p:cNvSpPr txBox="1"/>
          <p:nvPr/>
        </p:nvSpPr>
        <p:spPr>
          <a:xfrm>
            <a:off x="606974" y="2736098"/>
            <a:ext cx="506958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/>
              <a:t>Statistiques</a:t>
            </a:r>
            <a:r>
              <a:rPr lang="en-US" sz="4000" b="1"/>
              <a:t> </a:t>
            </a:r>
          </a:p>
          <a:p>
            <a:pPr algn="ctr"/>
            <a:r>
              <a:rPr lang="en-US" sz="4000" b="1"/>
              <a:t>TX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7B97-9BB4-0A0E-FAC0-F281CD6F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901AB7-64C7-F8DC-1809-88FCCF5E5BF6}"/>
              </a:ext>
            </a:extLst>
          </p:cNvPr>
          <p:cNvSpPr txBox="1"/>
          <p:nvPr/>
        </p:nvSpPr>
        <p:spPr>
          <a:xfrm>
            <a:off x="2330245" y="2356629"/>
            <a:ext cx="7838989" cy="1754326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Aptos"/>
                <a:cs typeface="Arial"/>
              </a:rPr>
              <a:t> Communication Infogreffe</a:t>
            </a:r>
          </a:p>
          <a:p>
            <a:pPr algn="ctr">
              <a:defRPr/>
            </a:pPr>
            <a:r>
              <a:rPr lang="fr-FR" sz="3600" b="1" dirty="0">
                <a:solidFill>
                  <a:schemeClr val="bg1"/>
                </a:solidFill>
                <a:latin typeface="Aptos"/>
                <a:cs typeface="Arial"/>
              </a:rPr>
              <a:t>Les statistiques de l’entrepreneuriat français</a:t>
            </a:r>
          </a:p>
        </p:txBody>
      </p:sp>
    </p:spTree>
    <p:extLst>
      <p:ext uri="{BB962C8B-B14F-4D97-AF65-F5344CB8AC3E}">
        <p14:creationId xmlns:p14="http://schemas.microsoft.com/office/powerpoint/2010/main" val="288317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3DE-F824-6969-FBBE-29B03F9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5C4F24-C0D3-D8A4-4A07-09025D3625B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FRANCE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5152B-F54A-D67B-EE0D-3FA1A3FD83CC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4DF538-E9F0-0B44-F589-4C4181D1DC8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68E728-29DA-5619-520D-D31DD10B32B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4FA8746-EC27-654C-3EDB-4C62D6AECB7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B6B17BC-BD6F-59FD-F6DE-1C085985088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EB093F-3859-DD65-1AEA-C6212D612C7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64B921-D628-B035-C269-AF31B6F214E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6B8C32A-10F3-AABC-47C3-F57F9790D536}"/>
              </a:ext>
            </a:extLst>
          </p:cNvPr>
          <p:cNvSpPr/>
          <p:nvPr/>
        </p:nvSpPr>
        <p:spPr>
          <a:xfrm>
            <a:off x="8513339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F645B7-87F0-063E-C7B7-0E7204423537}"/>
              </a:ext>
            </a:extLst>
          </p:cNvPr>
          <p:cNvSpPr/>
          <p:nvPr/>
        </p:nvSpPr>
        <p:spPr>
          <a:xfrm>
            <a:off x="8513340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8548204-8463-017A-5B00-A150C1ACE85B}"/>
              </a:ext>
            </a:extLst>
          </p:cNvPr>
          <p:cNvSpPr/>
          <p:nvPr/>
        </p:nvSpPr>
        <p:spPr>
          <a:xfrm>
            <a:off x="8513338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2E7E6F-B8DA-80BB-0979-A84CE5A38F1B}"/>
              </a:ext>
            </a:extLst>
          </p:cNvPr>
          <p:cNvSpPr/>
          <p:nvPr/>
        </p:nvSpPr>
        <p:spPr>
          <a:xfrm>
            <a:off x="10234868" y="2546278"/>
            <a:ext cx="1411976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D34F4E2-18A7-A3E6-AC08-68098503A2BB}"/>
              </a:ext>
            </a:extLst>
          </p:cNvPr>
          <p:cNvSpPr/>
          <p:nvPr/>
        </p:nvSpPr>
        <p:spPr>
          <a:xfrm>
            <a:off x="10264365" y="3275963"/>
            <a:ext cx="124051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31207E-2426-D839-E53D-7F7202CEC9FF}"/>
              </a:ext>
            </a:extLst>
          </p:cNvPr>
          <p:cNvSpPr/>
          <p:nvPr/>
        </p:nvSpPr>
        <p:spPr>
          <a:xfrm>
            <a:off x="10264365" y="3976152"/>
            <a:ext cx="124051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644FEC8-F01F-D84A-4E4D-A82FEC9A02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B7B3ABC-6992-3752-38B4-91E939E95DE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5145C4F-87FD-E168-A336-D1720BED76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D83494-E176-ED6E-7A8D-E990E1DE660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935BA-B20B-5DB1-607D-8F22A7B494D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C176308-978F-C2F9-AF60-2B183A7ECC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3F455FD-E88D-7405-991E-37B0C6E19242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F0C018C-4817-0181-3947-A844488E1C3B}"/>
              </a:ext>
            </a:extLst>
          </p:cNvPr>
          <p:cNvSpPr txBox="1"/>
          <p:nvPr/>
        </p:nvSpPr>
        <p:spPr>
          <a:xfrm>
            <a:off x="6514002" y="6143564"/>
            <a:ext cx="56779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703E699-58D8-6B8F-DC7F-483326C52C7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82BC159-8C69-90AA-C743-30D6C1510E8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2ED3A9-C606-2360-429B-8964A569658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0FA3554-BCDE-82BB-C72D-7D4316538EA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9059AEF7-F9F1-A4C0-D049-7015D974FE7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CE894D8-68A6-7C51-7F3F-841E10E0CBEE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72530472-7966-D52E-0C8F-DC02E62A2EDB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77B9672A-8C59-E671-3554-BB1D8D28F163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DFB60364-E1E6-68B5-98BE-FFD298AC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3D5222CD-610E-526B-D370-72914E8F0ADD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3402714F-2DC8-8576-FD82-1CAC42DBF497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D21CC2A1-862F-C506-7172-8A0C4060887B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8DB0D30B-924B-BC02-7F4A-CA33E801DCE7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02AC0419-A389-9076-C801-AECB867C92D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66" name="ZoneTexte 6">
            <a:extLst>
              <a:ext uri="{FF2B5EF4-FFF2-40B4-BE49-F238E27FC236}">
                <a16:creationId xmlns:a16="http://schemas.microsoft.com/office/drawing/2014/main" id="{7ACE1EF4-0C64-5F79-D97A-095A6ACD3D7C}"/>
              </a:ext>
            </a:extLst>
          </p:cNvPr>
          <p:cNvSpPr txBox="1"/>
          <p:nvPr/>
        </p:nvSpPr>
        <p:spPr>
          <a:xfrm>
            <a:off x="6974980" y="2773781"/>
            <a:ext cx="925916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67" name="ZoneTexte 6">
            <a:extLst>
              <a:ext uri="{FF2B5EF4-FFF2-40B4-BE49-F238E27FC236}">
                <a16:creationId xmlns:a16="http://schemas.microsoft.com/office/drawing/2014/main" id="{AB590519-001C-04F8-90E8-EB5FDF86A956}"/>
              </a:ext>
            </a:extLst>
          </p:cNvPr>
          <p:cNvSpPr txBox="1"/>
          <p:nvPr/>
        </p:nvSpPr>
        <p:spPr>
          <a:xfrm>
            <a:off x="6974980" y="3710994"/>
            <a:ext cx="925916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68" name="ZoneTexte 6">
            <a:extLst>
              <a:ext uri="{FF2B5EF4-FFF2-40B4-BE49-F238E27FC236}">
                <a16:creationId xmlns:a16="http://schemas.microsoft.com/office/drawing/2014/main" id="{8C8DD0B1-5705-4DC1-CFAA-E42D8C408C58}"/>
              </a:ext>
            </a:extLst>
          </p:cNvPr>
          <p:cNvSpPr txBox="1"/>
          <p:nvPr/>
        </p:nvSpPr>
        <p:spPr>
          <a:xfrm>
            <a:off x="6974980" y="3230052"/>
            <a:ext cx="925916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69" name="ZoneTexte 6">
            <a:extLst>
              <a:ext uri="{FF2B5EF4-FFF2-40B4-BE49-F238E27FC236}">
                <a16:creationId xmlns:a16="http://schemas.microsoft.com/office/drawing/2014/main" id="{017915F6-F01E-A55D-1CF0-9632CB4C7D16}"/>
              </a:ext>
            </a:extLst>
          </p:cNvPr>
          <p:cNvSpPr txBox="1"/>
          <p:nvPr/>
        </p:nvSpPr>
        <p:spPr>
          <a:xfrm>
            <a:off x="4322980" y="4843301"/>
            <a:ext cx="952340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70" name="ZoneTexte 6">
            <a:extLst>
              <a:ext uri="{FF2B5EF4-FFF2-40B4-BE49-F238E27FC236}">
                <a16:creationId xmlns:a16="http://schemas.microsoft.com/office/drawing/2014/main" id="{D33B6A3D-905F-7312-E014-180394B0B5E1}"/>
              </a:ext>
            </a:extLst>
          </p:cNvPr>
          <p:cNvSpPr txBox="1"/>
          <p:nvPr/>
        </p:nvSpPr>
        <p:spPr>
          <a:xfrm>
            <a:off x="5553611" y="4863201"/>
            <a:ext cx="925916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39E817-8025-6F3A-45F8-E05DEB4726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A01-5460-2495-18B8-08FA4F96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678E8C-D513-5D13-F6AA-E46FDD6AED1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1A3736-64E6-8F6B-A476-D87E8F6519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FRANCE 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DE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0C0E378-238D-CF37-252B-FB9BA569A504}"/>
              </a:ext>
            </a:extLst>
          </p:cNvPr>
          <p:cNvSpPr/>
          <p:nvPr/>
        </p:nvSpPr>
        <p:spPr>
          <a:xfrm>
            <a:off x="2985209" y="3056955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C6F767-A620-4AF8-712C-D56929915C46}"/>
              </a:ext>
            </a:extLst>
          </p:cNvPr>
          <p:cNvSpPr/>
          <p:nvPr/>
        </p:nvSpPr>
        <p:spPr>
          <a:xfrm>
            <a:off x="3013749" y="2451648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475E2AB-25C7-A228-E7F8-948E8D491796}"/>
              </a:ext>
            </a:extLst>
          </p:cNvPr>
          <p:cNvSpPr/>
          <p:nvPr/>
        </p:nvSpPr>
        <p:spPr>
          <a:xfrm>
            <a:off x="5139650" y="2453321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57CDC0E-66AC-9913-F2D0-E288CB77A043}"/>
              </a:ext>
            </a:extLst>
          </p:cNvPr>
          <p:cNvSpPr/>
          <p:nvPr/>
        </p:nvSpPr>
        <p:spPr>
          <a:xfrm>
            <a:off x="5139650" y="3137720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BEA8D84-EF27-B5E3-C357-95AFD5A99B8B}"/>
              </a:ext>
            </a:extLst>
          </p:cNvPr>
          <p:cNvSpPr/>
          <p:nvPr/>
        </p:nvSpPr>
        <p:spPr>
          <a:xfrm>
            <a:off x="2811439" y="2307913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FB2F85-F6B5-3541-8622-50DE6E8B0065}"/>
              </a:ext>
            </a:extLst>
          </p:cNvPr>
          <p:cNvSpPr txBox="1"/>
          <p:nvPr/>
        </p:nvSpPr>
        <p:spPr>
          <a:xfrm>
            <a:off x="3922180" y="1661847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B365DD-07F0-78AA-3A59-A9DE0909394B}"/>
              </a:ext>
            </a:extLst>
          </p:cNvPr>
          <p:cNvSpPr/>
          <p:nvPr/>
        </p:nvSpPr>
        <p:spPr>
          <a:xfrm>
            <a:off x="2985209" y="3900213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89DEFED-9F28-18CE-DD79-76C09B485721}"/>
              </a:ext>
            </a:extLst>
          </p:cNvPr>
          <p:cNvSpPr/>
          <p:nvPr/>
        </p:nvSpPr>
        <p:spPr>
          <a:xfrm>
            <a:off x="5139650" y="3899908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3B40AEF-A6B4-0A6B-24DC-BEED0964D7D4}"/>
              </a:ext>
            </a:extLst>
          </p:cNvPr>
          <p:cNvSpPr/>
          <p:nvPr/>
        </p:nvSpPr>
        <p:spPr>
          <a:xfrm>
            <a:off x="6946286" y="316312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998B906-5A07-15E1-81E3-35AA3928E090}"/>
              </a:ext>
            </a:extLst>
          </p:cNvPr>
          <p:cNvSpPr/>
          <p:nvPr/>
        </p:nvSpPr>
        <p:spPr>
          <a:xfrm>
            <a:off x="6946286" y="3913242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53D10A0-ED3C-0C82-54CF-450705145693}"/>
              </a:ext>
            </a:extLst>
          </p:cNvPr>
          <p:cNvSpPr/>
          <p:nvPr/>
        </p:nvSpPr>
        <p:spPr>
          <a:xfrm>
            <a:off x="6946286" y="2467030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B4D0AB9-747B-8924-C53B-B7EA78D5DAB9}"/>
              </a:ext>
            </a:extLst>
          </p:cNvPr>
          <p:cNvSpPr txBox="1"/>
          <p:nvPr/>
        </p:nvSpPr>
        <p:spPr>
          <a:xfrm>
            <a:off x="6538783" y="2076110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BA65AD-58D6-AA95-7815-8EAC9E023D1D}"/>
              </a:ext>
            </a:extLst>
          </p:cNvPr>
          <p:cNvSpPr txBox="1"/>
          <p:nvPr/>
        </p:nvSpPr>
        <p:spPr>
          <a:xfrm>
            <a:off x="7774322" y="5843705"/>
            <a:ext cx="4417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99622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A414-CF92-C96A-EB48-3D993B11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AE3C1E1-E893-E5EB-6E7E-45920A07AB58}"/>
              </a:ext>
            </a:extLst>
          </p:cNvPr>
          <p:cNvSpPr txBox="1"/>
          <p:nvPr/>
        </p:nvSpPr>
        <p:spPr>
          <a:xfrm>
            <a:off x="2747215" y="2967335"/>
            <a:ext cx="6697569" cy="92333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Immatriculations</a:t>
            </a:r>
          </a:p>
        </p:txBody>
      </p:sp>
    </p:spTree>
    <p:extLst>
      <p:ext uri="{BB962C8B-B14F-4D97-AF65-F5344CB8AC3E}">
        <p14:creationId xmlns:p14="http://schemas.microsoft.com/office/powerpoint/2010/main" val="202229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4D94-86A5-EF39-1912-48A79465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71B532-5911-911C-80BF-7948391203AD}"/>
              </a:ext>
            </a:extLst>
          </p:cNvPr>
          <p:cNvSpPr/>
          <p:nvPr/>
        </p:nvSpPr>
        <p:spPr>
          <a:xfrm>
            <a:off x="3734761" y="3588966"/>
            <a:ext cx="2024512" cy="7725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71BC3-2CC3-51BB-E769-9C0C3C15BB0B}"/>
              </a:ext>
            </a:extLst>
          </p:cNvPr>
          <p:cNvSpPr/>
          <p:nvPr/>
        </p:nvSpPr>
        <p:spPr>
          <a:xfrm>
            <a:off x="7571957" y="2844884"/>
            <a:ext cx="1551699" cy="6421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X%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prstClr val="white"/>
                </a:solidFill>
                <a:latin typeface="Aptos" panose="020B0004020202020204" pitchFamily="34" charset="0"/>
              </a:rPr>
              <a:t>TX 2024/TX 2025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FB98CE9-8036-8BA3-7069-67B866482427}"/>
              </a:ext>
            </a:extLst>
          </p:cNvPr>
          <p:cNvCxnSpPr/>
          <p:nvPr/>
        </p:nvCxnSpPr>
        <p:spPr>
          <a:xfrm flipV="1">
            <a:off x="6034576" y="3242178"/>
            <a:ext cx="1337187" cy="668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2A3938F0-05CB-730A-25B4-13AD1B2E2D6F}"/>
              </a:ext>
            </a:extLst>
          </p:cNvPr>
          <p:cNvSpPr txBox="1"/>
          <p:nvPr/>
        </p:nvSpPr>
        <p:spPr>
          <a:xfrm>
            <a:off x="224977" y="618557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6442C6-7F04-DD36-29D7-43EEC66333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5D9E56-220A-D04E-5D68-E08349747580}"/>
              </a:ext>
            </a:extLst>
          </p:cNvPr>
          <p:cNvSpPr/>
          <p:nvPr/>
        </p:nvSpPr>
        <p:spPr>
          <a:xfrm>
            <a:off x="0" y="197964"/>
            <a:ext cx="1021338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Nombre d’immatriculations d’entreprises au X</a:t>
            </a:r>
            <a:r>
              <a:rPr lang="fr-FR" sz="2000" b="1" baseline="30000" dirty="0">
                <a:solidFill>
                  <a:prstClr val="white"/>
                </a:solidFill>
                <a:latin typeface="Aptos" panose="020B0004020202020204" pitchFamily="34" charset="0"/>
              </a:rPr>
              <a:t>ème</a:t>
            </a: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 trimestre 2025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60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ED87E-11B8-FC3D-49A3-96BF19D0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F4C9DE3-A887-F941-672F-B30E4B8D6A81}"/>
              </a:ext>
            </a:extLst>
          </p:cNvPr>
          <p:cNvSpPr txBox="1"/>
          <p:nvPr/>
        </p:nvSpPr>
        <p:spPr>
          <a:xfrm>
            <a:off x="136646" y="104751"/>
            <a:ext cx="101205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ea typeface="+mn-lt"/>
                <a:cs typeface="+mn-lt"/>
              </a:rPr>
              <a:t>Répartition</a:t>
            </a:r>
            <a:r>
              <a:rPr lang="en-US" sz="2000" b="1" dirty="0">
                <a:ea typeface="+mn-lt"/>
                <a:cs typeface="+mn-lt"/>
              </a:rPr>
              <a:t> des </a:t>
            </a:r>
            <a:r>
              <a:rPr lang="en-US" sz="2000" b="1" dirty="0" err="1">
                <a:ea typeface="+mn-lt"/>
                <a:cs typeface="+mn-lt"/>
              </a:rPr>
              <a:t>immatriculations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d’entreprise</a:t>
            </a:r>
            <a:r>
              <a:rPr lang="en-US" sz="2000" b="1" dirty="0">
                <a:ea typeface="+mn-lt"/>
                <a:cs typeface="+mn-lt"/>
              </a:rPr>
              <a:t> par </a:t>
            </a:r>
            <a:r>
              <a:rPr lang="en-US" sz="2000" b="1" dirty="0" err="1">
                <a:ea typeface="+mn-lt"/>
                <a:cs typeface="+mn-lt"/>
              </a:rPr>
              <a:t>région</a:t>
            </a:r>
            <a:r>
              <a:rPr lang="en-US" sz="2000" b="1" dirty="0">
                <a:ea typeface="+mn-lt"/>
                <a:cs typeface="+mn-lt"/>
              </a:rPr>
              <a:t>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en-US" sz="2000" b="1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356181"/>
              </p:ext>
            </p:extLst>
          </p:nvPr>
        </p:nvGraphicFramePr>
        <p:xfrm>
          <a:off x="3111603" y="678335"/>
          <a:ext cx="5923722" cy="5347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682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Aptos" panose="020B0004020202020204" pitchFamily="34" charset="0"/>
                        </a:rPr>
                        <a:t>Répartition en %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F540DD05-3CDF-39F8-6DE6-6066C1A31476}"/>
              </a:ext>
            </a:extLst>
          </p:cNvPr>
          <p:cNvSpPr txBox="1"/>
          <p:nvPr/>
        </p:nvSpPr>
        <p:spPr>
          <a:xfrm>
            <a:off x="136646" y="6199251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1F82E44-6C9A-2FE9-9C3C-B83BC182C0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3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1FC1-84BB-71C6-1B52-54A33A98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A1974C-A2C1-73C5-49BF-8C6EFFE66637}"/>
              </a:ext>
            </a:extLst>
          </p:cNvPr>
          <p:cNvSpPr/>
          <p:nvPr/>
        </p:nvSpPr>
        <p:spPr>
          <a:xfrm>
            <a:off x="531553" y="1418895"/>
            <a:ext cx="4389120" cy="4019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BD4D46-FCB3-223D-8DB4-7DBA3AB932FD}"/>
              </a:ext>
            </a:extLst>
          </p:cNvPr>
          <p:cNvSpPr txBox="1"/>
          <p:nvPr/>
        </p:nvSpPr>
        <p:spPr>
          <a:xfrm>
            <a:off x="267693" y="104895"/>
            <a:ext cx="1007791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000" b="1" dirty="0"/>
              <a:t>Répartition des immatriculations par secteur d'activité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fr-FR" sz="2000" b="1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BBDF93F-96A7-D253-844E-6CA5D8923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39442"/>
              </p:ext>
            </p:extLst>
          </p:nvPr>
        </p:nvGraphicFramePr>
        <p:xfrm>
          <a:off x="5152944" y="1680530"/>
          <a:ext cx="6780259" cy="3516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58014">
                  <a:extLst>
                    <a:ext uri="{9D8B030D-6E8A-4147-A177-3AD203B41FA5}">
                      <a16:colId xmlns:a16="http://schemas.microsoft.com/office/drawing/2014/main" val="1808266480"/>
                    </a:ext>
                  </a:extLst>
                </a:gridCol>
                <a:gridCol w="1098796">
                  <a:extLst>
                    <a:ext uri="{9D8B030D-6E8A-4147-A177-3AD203B41FA5}">
                      <a16:colId xmlns:a16="http://schemas.microsoft.com/office/drawing/2014/main" val="4092960987"/>
                    </a:ext>
                  </a:extLst>
                </a:gridCol>
                <a:gridCol w="1423449">
                  <a:extLst>
                    <a:ext uri="{9D8B030D-6E8A-4147-A177-3AD203B41FA5}">
                      <a16:colId xmlns:a16="http://schemas.microsoft.com/office/drawing/2014/main" val="2413729841"/>
                    </a:ext>
                  </a:extLst>
                </a:gridCol>
              </a:tblGrid>
              <a:tr h="5877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Secteurs d’activité</a:t>
                      </a:r>
                    </a:p>
                  </a:txBody>
                  <a:tcPr marL="7620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Nombre </a:t>
                      </a:r>
                    </a:p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T3 2025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620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Evolution </a:t>
                      </a:r>
                    </a:p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T3 2025 </a:t>
                      </a:r>
                    </a:p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vs T3 2024</a:t>
                      </a:r>
                      <a:endParaRPr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85846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ACTIVITÉS IMMOBILIÈRES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8445309"/>
                  </a:ext>
                </a:extLst>
              </a:tr>
              <a:tr h="3684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COMMERCE , RÉPARATION D'AUTOMOBILES ET DE MOTOCYCLES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67476156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ACTIVITÉS SPÉCIALISÉES, SCIENTIFIQUES ET TECHNIQUES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1191730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TRANSPORTS ET ENTREPOSAGE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37909554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ACTIVITÉS DE SERVICES ADMINISTRATIFS ET DE SOUTIEN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444624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HÉBERGEMENT ET RESTAURATION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49198235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CONSTRUCTION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06724963"/>
                  </a:ext>
                </a:extLst>
              </a:tr>
              <a:tr h="356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u="none" strike="noStrike" dirty="0">
                          <a:effectLst/>
                          <a:latin typeface="+mn-lt"/>
                        </a:rPr>
                        <a:t>AUTRES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4098108"/>
                  </a:ext>
                </a:extLst>
              </a:tr>
            </a:tbl>
          </a:graphicData>
        </a:graphic>
      </p:graphicFrame>
      <p:graphicFrame>
        <p:nvGraphicFramePr>
          <p:cNvPr id="42" name="Char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86984"/>
              </p:ext>
            </p:extLst>
          </p:nvPr>
        </p:nvGraphicFramePr>
        <p:xfrm>
          <a:off x="531553" y="0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EBCB245A-C064-727A-7AD6-81D8F72D31D4}"/>
              </a:ext>
            </a:extLst>
          </p:cNvPr>
          <p:cNvSpPr txBox="1"/>
          <p:nvPr/>
        </p:nvSpPr>
        <p:spPr>
          <a:xfrm>
            <a:off x="137442" y="6199107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668023-8867-BAD2-BCE5-9B21FEC3AE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9715" y="186109"/>
            <a:ext cx="1240876" cy="49241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2E370F6-87CF-FB7C-CE58-93165C96EF99}"/>
              </a:ext>
            </a:extLst>
          </p:cNvPr>
          <p:cNvSpPr txBox="1"/>
          <p:nvPr/>
        </p:nvSpPr>
        <p:spPr>
          <a:xfrm>
            <a:off x="1602605" y="3105420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368405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900E-0F24-1B6C-836D-51B9CFD1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6CBAFE-CA64-E118-F531-A5CFE600AFED}"/>
              </a:ext>
            </a:extLst>
          </p:cNvPr>
          <p:cNvSpPr/>
          <p:nvPr/>
        </p:nvSpPr>
        <p:spPr>
          <a:xfrm>
            <a:off x="534839" y="1456744"/>
            <a:ext cx="4389120" cy="4019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549616-3CE4-3891-CF23-33EB5A03B2F5}"/>
              </a:ext>
            </a:extLst>
          </p:cNvPr>
          <p:cNvSpPr txBox="1"/>
          <p:nvPr/>
        </p:nvSpPr>
        <p:spPr>
          <a:xfrm>
            <a:off x="140328" y="79949"/>
            <a:ext cx="10133829" cy="51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000" b="1" dirty="0"/>
              <a:t>Répartition des immatriculations par </a:t>
            </a:r>
            <a:r>
              <a:rPr lang="en-US" sz="2000" b="1" dirty="0" err="1"/>
              <a:t>forme</a:t>
            </a:r>
            <a:r>
              <a:rPr lang="en-US" sz="2000" b="1" dirty="0"/>
              <a:t> </a:t>
            </a:r>
            <a:r>
              <a:rPr lang="en-US" sz="2000" b="1" dirty="0" err="1"/>
              <a:t>juridique</a:t>
            </a:r>
            <a:r>
              <a:rPr lang="en-US" sz="2000" b="1" dirty="0"/>
              <a:t>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 </a:t>
            </a:r>
            <a:endParaRPr lang="en-US" sz="2000" b="1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8651BED-5BAE-C703-8706-A4427385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647220"/>
              </p:ext>
            </p:extLst>
          </p:nvPr>
        </p:nvGraphicFramePr>
        <p:xfrm>
          <a:off x="5318469" y="1829791"/>
          <a:ext cx="6505121" cy="3470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79">
                  <a:extLst>
                    <a:ext uri="{9D8B030D-6E8A-4147-A177-3AD203B41FA5}">
                      <a16:colId xmlns:a16="http://schemas.microsoft.com/office/drawing/2014/main" val="3921334122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115332054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963379330"/>
                    </a:ext>
                  </a:extLst>
                </a:gridCol>
              </a:tblGrid>
              <a:tr h="6187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Répartition par forme juridique </a:t>
                      </a: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Nombre T3 2025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Evolution T3 2024 </a:t>
                      </a:r>
                    </a:p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vs T3 2025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37708"/>
                  </a:ext>
                </a:extLst>
              </a:tr>
              <a:tr h="6187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par actions simplifiée​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86756141"/>
                  </a:ext>
                </a:extLst>
              </a:tr>
              <a:tr h="58499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à responsabilité limitée​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9747806"/>
                  </a:ext>
                </a:extLst>
              </a:tr>
              <a:tr h="5062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civile immobilière​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0918954"/>
                  </a:ext>
                </a:extLst>
              </a:tr>
              <a:tr h="562492">
                <a:tc>
                  <a:txBody>
                    <a:bodyPr/>
                    <a:lstStyle/>
                    <a:p>
                      <a:pPr algn="ctr"/>
                      <a:r>
                        <a:rPr lang="fr-FR" sz="1200" b="0" u="none" strike="noStrike" dirty="0">
                          <a:effectLst/>
                        </a:rPr>
                        <a:t>Commerçant (</a:t>
                      </a:r>
                      <a:r>
                        <a:rPr lang="fr-FR" sz="1200" dirty="0"/>
                        <a:t>Entreprise immatriculée au RCS en tant que personne physique (=entreprise individuelle))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9940263"/>
                  </a:ext>
                </a:extLst>
              </a:tr>
              <a:tr h="5512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Autres formes juridiques​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198647"/>
                  </a:ext>
                </a:extLst>
              </a:tr>
            </a:tbl>
          </a:graphicData>
        </a:graphic>
      </p:graphicFrame>
      <p:graphicFrame>
        <p:nvGraphicFramePr>
          <p:cNvPr id="48" name="Char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253862"/>
              </p:ext>
            </p:extLst>
          </p:nvPr>
        </p:nvGraphicFramePr>
        <p:xfrm>
          <a:off x="474512" y="-170234"/>
          <a:ext cx="4509773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31056894-A8B0-38FC-1D67-78C4326BAF59}"/>
              </a:ext>
            </a:extLst>
          </p:cNvPr>
          <p:cNvSpPr txBox="1"/>
          <p:nvPr/>
        </p:nvSpPr>
        <p:spPr>
          <a:xfrm>
            <a:off x="60961" y="6201071"/>
            <a:ext cx="55447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8ED5916-B487-F3CD-F18E-A2126FC041A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9164740-F6C3-2270-6B39-7E8FDCE2C713}"/>
              </a:ext>
            </a:extLst>
          </p:cNvPr>
          <p:cNvSpPr txBox="1"/>
          <p:nvPr/>
        </p:nvSpPr>
        <p:spPr>
          <a:xfrm>
            <a:off x="1643926" y="310583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170323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65B5-B1E5-1C37-D470-4C7CF01F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343C409-E9D9-A376-03B1-64CCB08D4B1B}"/>
              </a:ext>
            </a:extLst>
          </p:cNvPr>
          <p:cNvSpPr txBox="1"/>
          <p:nvPr/>
        </p:nvSpPr>
        <p:spPr>
          <a:xfrm>
            <a:off x="1762125" y="2551836"/>
            <a:ext cx="8772525" cy="1754326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cs typeface="Arial"/>
              </a:rPr>
              <a:t>Stock d’entreprises actives </a:t>
            </a:r>
          </a:p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cs typeface="Arial"/>
              </a:rPr>
              <a:t>au RCS</a:t>
            </a:r>
          </a:p>
        </p:txBody>
      </p:sp>
    </p:spTree>
    <p:extLst>
      <p:ext uri="{BB962C8B-B14F-4D97-AF65-F5344CB8AC3E}">
        <p14:creationId xmlns:p14="http://schemas.microsoft.com/office/powerpoint/2010/main" val="270620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3EE0-891E-C762-CE8D-C28B3BF1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A007BDD-8E03-C9FB-884B-78CAF8898B8C}"/>
              </a:ext>
            </a:extLst>
          </p:cNvPr>
          <p:cNvSpPr txBox="1"/>
          <p:nvPr/>
        </p:nvSpPr>
        <p:spPr>
          <a:xfrm>
            <a:off x="138283" y="104751"/>
            <a:ext cx="10078535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/>
              <a:t>Stock </a:t>
            </a:r>
            <a:r>
              <a:rPr lang="en-US" sz="2000" b="1" dirty="0" err="1"/>
              <a:t>d’entreprises</a:t>
            </a:r>
            <a:r>
              <a:rPr lang="en-US" sz="2000" b="1" dirty="0"/>
              <a:t> actives par </a:t>
            </a:r>
            <a:r>
              <a:rPr lang="en-US" sz="2000" b="1" dirty="0" err="1"/>
              <a:t>région</a:t>
            </a:r>
            <a:r>
              <a:rPr lang="en-US" sz="2000" b="1" dirty="0"/>
              <a:t>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en-US" sz="2000" b="1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53393"/>
              </p:ext>
            </p:extLst>
          </p:nvPr>
        </p:nvGraphicFramePr>
        <p:xfrm>
          <a:off x="526774" y="792958"/>
          <a:ext cx="5569226" cy="528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86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Aptos" panose="020B0004020202020204" pitchFamily="34" charset="0"/>
                        </a:rPr>
                        <a:t>Volume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Auvergne-Rhône-Alpes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Bourgogne-Franche-Comté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Bretagne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Centre - Val de Loire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Corse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Grand 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Guadeloupe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Guyane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Hauts-De-France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Ile-de-France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La Réunion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Martinique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Mayotte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Normandie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Nouvelle Aquitaine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Occitanie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Pays de la Loire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Provence-Alpes-Côte d'Azur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EAA8F5E3-8F43-BD18-6A3F-9DE23B02AF5A}"/>
              </a:ext>
            </a:extLst>
          </p:cNvPr>
          <p:cNvSpPr txBox="1"/>
          <p:nvPr/>
        </p:nvSpPr>
        <p:spPr>
          <a:xfrm>
            <a:off x="0" y="6199250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B5D18A2-3C96-E315-2D57-FD83C5967B2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BD29667B-ED2C-D78D-252B-F1A804400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82595"/>
              </p:ext>
            </p:extLst>
          </p:nvPr>
        </p:nvGraphicFramePr>
        <p:xfrm>
          <a:off x="6382301" y="807720"/>
          <a:ext cx="518845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766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Aptos" panose="020B0004020202020204" pitchFamily="34" charset="0"/>
                        </a:rPr>
                        <a:t>Répartition</a:t>
                      </a:r>
                      <a:r>
                        <a:rPr sz="1400" dirty="0">
                          <a:latin typeface="Aptos" panose="020B0004020202020204" pitchFamily="34" charset="0"/>
                        </a:rPr>
                        <a:t> (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en</a:t>
                      </a:r>
                      <a:r>
                        <a:rPr sz="1400" dirty="0">
                          <a:latin typeface="Aptos" panose="020B0004020202020204" pitchFamily="34" charset="0"/>
                        </a:rPr>
                        <a:t> %)</a:t>
                      </a:r>
                    </a:p>
                  </a:txBody>
                  <a:tcPr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Ile-de-France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Auvergne-Rhône-Alpes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Provence-Alpes-Côte d'Azur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Occitanie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Nouvelle Aquitaine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Hauts-De-France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Pays de la Loire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Bretagne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Normandie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Bourgogne-Franche-Comté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Grand 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Centre - Val de Loire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Guadeloupe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La Réunion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Martinique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Corse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044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Guyane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0444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Mayotte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94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9849-F304-4B1A-689D-4FE3AAD0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32BB63C-88F8-DFCF-8E20-5A5FC71B0219}"/>
              </a:ext>
            </a:extLst>
          </p:cNvPr>
          <p:cNvSpPr txBox="1"/>
          <p:nvPr/>
        </p:nvSpPr>
        <p:spPr>
          <a:xfrm>
            <a:off x="2277641" y="2551837"/>
            <a:ext cx="7838989" cy="1754326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Ouvertures de procédures collectives</a:t>
            </a:r>
          </a:p>
        </p:txBody>
      </p:sp>
    </p:spTree>
    <p:extLst>
      <p:ext uri="{BB962C8B-B14F-4D97-AF65-F5344CB8AC3E}">
        <p14:creationId xmlns:p14="http://schemas.microsoft.com/office/powerpoint/2010/main" val="12209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B130-D257-8EB5-AD63-7FAEA6B6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E9BA536-9CC8-1E20-24FC-1C93AD901E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E949C5-EC01-D3B2-7CA5-304F61CAD4FA}"/>
              </a:ext>
            </a:extLst>
          </p:cNvPr>
          <p:cNvSpPr/>
          <p:nvPr/>
        </p:nvSpPr>
        <p:spPr>
          <a:xfrm>
            <a:off x="0" y="197964"/>
            <a:ext cx="1021338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Nombre d’entreprises entrées en procédure collective au X</a:t>
            </a:r>
            <a:r>
              <a:rPr lang="fr-FR" sz="2000" b="1" baseline="30000" dirty="0">
                <a:solidFill>
                  <a:prstClr val="white"/>
                </a:solidFill>
                <a:latin typeface="Aptos" panose="020B0004020202020204" pitchFamily="34" charset="0"/>
              </a:rPr>
              <a:t>ème</a:t>
            </a: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 trimestre 2025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8879D-3C5B-4648-2D5A-58DA4AD754F8}"/>
              </a:ext>
            </a:extLst>
          </p:cNvPr>
          <p:cNvSpPr/>
          <p:nvPr/>
        </p:nvSpPr>
        <p:spPr>
          <a:xfrm>
            <a:off x="3334069" y="3495628"/>
            <a:ext cx="2024512" cy="7725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4BB7F7-666B-EDC7-5A9B-98AC61AD00C6}"/>
              </a:ext>
            </a:extLst>
          </p:cNvPr>
          <p:cNvSpPr/>
          <p:nvPr/>
        </p:nvSpPr>
        <p:spPr>
          <a:xfrm>
            <a:off x="7171265" y="2751546"/>
            <a:ext cx="1551699" cy="6421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X%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prstClr val="white"/>
                </a:solidFill>
                <a:latin typeface="Aptos" panose="020B0004020202020204" pitchFamily="34" charset="0"/>
              </a:rPr>
              <a:t>TX 2024/TX 2025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15BAF622-5844-4A76-33B2-4BB333CB4331}"/>
              </a:ext>
            </a:extLst>
          </p:cNvPr>
          <p:cNvCxnSpPr/>
          <p:nvPr/>
        </p:nvCxnSpPr>
        <p:spPr>
          <a:xfrm flipV="1">
            <a:off x="5633884" y="3148840"/>
            <a:ext cx="1337187" cy="668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7D15D9A4-DFDB-2C1D-FD05-A79BE00C0E30}"/>
              </a:ext>
            </a:extLst>
          </p:cNvPr>
          <p:cNvSpPr txBox="1"/>
          <p:nvPr/>
        </p:nvSpPr>
        <p:spPr>
          <a:xfrm>
            <a:off x="163128" y="6198988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768810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90AE-BBD9-519D-E67C-D0CA1E47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2F5434C7-53DC-2E76-BA50-F8492F7C3CC4}"/>
              </a:ext>
            </a:extLst>
          </p:cNvPr>
          <p:cNvSpPr txBox="1"/>
          <p:nvPr/>
        </p:nvSpPr>
        <p:spPr>
          <a:xfrm>
            <a:off x="0" y="127680"/>
            <a:ext cx="104026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Evolution des </a:t>
            </a:r>
            <a:r>
              <a:rPr lang="en-US" sz="2000" b="1" dirty="0" err="1">
                <a:ea typeface="+mn-lt"/>
                <a:cs typeface="+mn-lt"/>
              </a:rPr>
              <a:t>ouvertures</a:t>
            </a:r>
            <a:r>
              <a:rPr lang="en-US" sz="2000" b="1" dirty="0">
                <a:ea typeface="+mn-lt"/>
                <a:cs typeface="+mn-lt"/>
              </a:rPr>
              <a:t> de </a:t>
            </a:r>
            <a:r>
              <a:rPr lang="en-US" sz="2000" b="1" dirty="0" err="1">
                <a:ea typeface="+mn-lt"/>
                <a:cs typeface="+mn-lt"/>
              </a:rPr>
              <a:t>procédure</a:t>
            </a:r>
            <a:r>
              <a:rPr lang="en-US" sz="2000" b="1" dirty="0">
                <a:ea typeface="+mn-lt"/>
                <a:cs typeface="+mn-lt"/>
              </a:rPr>
              <a:t> collective par </a:t>
            </a:r>
            <a:r>
              <a:rPr lang="en-US" sz="2000" b="1" dirty="0" err="1">
                <a:ea typeface="+mn-lt"/>
                <a:cs typeface="+mn-lt"/>
              </a:rPr>
              <a:t>région</a:t>
            </a:r>
            <a:r>
              <a:rPr lang="en-US" sz="2000" b="1" dirty="0">
                <a:ea typeface="+mn-lt"/>
                <a:cs typeface="+mn-lt"/>
              </a:rPr>
              <a:t> </a:t>
            </a:r>
            <a:endParaRPr lang="en-US" sz="2000" b="1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888554"/>
              </p:ext>
            </p:extLst>
          </p:nvPr>
        </p:nvGraphicFramePr>
        <p:xfrm>
          <a:off x="2822712" y="690375"/>
          <a:ext cx="6546576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latin typeface="Aptos" panose="020B0004020202020204" pitchFamily="34" charset="0"/>
                        </a:rPr>
                        <a:t>Évolution (en %)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T3 2025 vs T3 2024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Pays de la Loire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Guyane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Corse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Normandie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Guadeloupe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Centre - Val de Loire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Nouvelle Aquitaine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Bourgogne-Franche-Comté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Auvergne-Rhône-Alpes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Occitanie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Provence-Alpes-Côte d'Azur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Hauts-De-France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Grand 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ptos" panose="020B0004020202020204" pitchFamily="34" charset="0"/>
                        </a:rPr>
                        <a:t>Bretagne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Ile-de-France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La Réunion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Martinique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ptos" panose="020B0004020202020204" pitchFamily="34" charset="0"/>
                        </a:rPr>
                        <a:t>Mayotte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6B352652-707F-2AB0-2444-FC1E26EC721B}"/>
              </a:ext>
            </a:extLst>
          </p:cNvPr>
          <p:cNvSpPr txBox="1"/>
          <p:nvPr/>
        </p:nvSpPr>
        <p:spPr>
          <a:xfrm>
            <a:off x="0" y="6176322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C7694F5-94A7-2517-74EF-2E717149C2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1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BB20-A43F-8614-8AEA-3999DB7A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F6C4B8B8-5B5D-E5ED-EAF4-2724291E526B}"/>
              </a:ext>
            </a:extLst>
          </p:cNvPr>
          <p:cNvSpPr txBox="1"/>
          <p:nvPr/>
        </p:nvSpPr>
        <p:spPr>
          <a:xfrm>
            <a:off x="317240" y="6158673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62EF1D2-9E1F-2285-DB55-557051A759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5F6485B-6E83-EF15-76C3-EBE19955EB72}"/>
              </a:ext>
            </a:extLst>
          </p:cNvPr>
          <p:cNvSpPr txBox="1"/>
          <p:nvPr/>
        </p:nvSpPr>
        <p:spPr>
          <a:xfrm>
            <a:off x="117736" y="136320"/>
            <a:ext cx="10079812" cy="4924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ea typeface="+mj-ea"/>
                <a:cs typeface="+mj-cs"/>
              </a:rPr>
              <a:t>E</a:t>
            </a:r>
            <a:r>
              <a:rPr lang="en-US" sz="2000" b="1" kern="1200" dirty="0">
                <a:solidFill>
                  <a:schemeClr val="tx1"/>
                </a:solidFill>
                <a:ea typeface="+mj-ea"/>
                <a:cs typeface="+mj-cs"/>
              </a:rPr>
              <a:t>volution des </a:t>
            </a:r>
            <a:r>
              <a:rPr lang="en-US" sz="2000" b="1" kern="1200" dirty="0" err="1">
                <a:solidFill>
                  <a:schemeClr val="tx1"/>
                </a:solidFill>
                <a:ea typeface="+mj-ea"/>
                <a:cs typeface="+mj-cs"/>
              </a:rPr>
              <a:t>ouvertures</a:t>
            </a:r>
            <a:r>
              <a:rPr lang="en-US" sz="2000" b="1" kern="1200" dirty="0">
                <a:solidFill>
                  <a:schemeClr val="tx1"/>
                </a:solidFill>
                <a:ea typeface="+mj-ea"/>
                <a:cs typeface="+mj-cs"/>
              </a:rPr>
              <a:t> de </a:t>
            </a:r>
            <a:r>
              <a:rPr lang="en-US" sz="2000" b="1" kern="1200" dirty="0" err="1">
                <a:solidFill>
                  <a:schemeClr val="tx1"/>
                </a:solidFill>
                <a:ea typeface="+mj-ea"/>
                <a:cs typeface="+mj-cs"/>
              </a:rPr>
              <a:t>procédure</a:t>
            </a:r>
            <a:r>
              <a:rPr lang="en-US" sz="2000" b="1" kern="1200" dirty="0">
                <a:solidFill>
                  <a:schemeClr val="tx1"/>
                </a:solidFill>
                <a:ea typeface="+mj-ea"/>
                <a:cs typeface="+mj-cs"/>
              </a:rPr>
              <a:t> collective par </a:t>
            </a:r>
            <a:r>
              <a:rPr lang="en-US" sz="2000" b="1" kern="1200" dirty="0" err="1">
                <a:solidFill>
                  <a:schemeClr val="tx1"/>
                </a:solidFill>
                <a:ea typeface="+mj-ea"/>
                <a:cs typeface="+mj-cs"/>
              </a:rPr>
              <a:t>secteur</a:t>
            </a:r>
            <a:r>
              <a:rPr lang="en-US" sz="2000" b="1" dirty="0">
                <a:ea typeface="+mj-ea"/>
                <a:cs typeface="+mj-cs"/>
              </a:rPr>
              <a:t> </a:t>
            </a:r>
            <a:r>
              <a:rPr lang="en-US" sz="2000" b="1" dirty="0" err="1">
                <a:ea typeface="+mj-ea"/>
                <a:cs typeface="+mj-cs"/>
              </a:rPr>
              <a:t>d’activité</a:t>
            </a:r>
            <a:endParaRPr lang="en-US" sz="2000" b="1" dirty="0">
              <a:ea typeface="+mj-ea"/>
              <a:cs typeface="+mj-cs"/>
            </a:endParaRP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154625"/>
              </p:ext>
            </p:extLst>
          </p:nvPr>
        </p:nvGraphicFramePr>
        <p:xfrm>
          <a:off x="1793361" y="1329971"/>
          <a:ext cx="8332341" cy="4650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F5235C7-6158-4678-446C-DD472A5E2D85}"/>
              </a:ext>
            </a:extLst>
          </p:cNvPr>
          <p:cNvSpPr txBox="1"/>
          <p:nvPr/>
        </p:nvSpPr>
        <p:spPr>
          <a:xfrm>
            <a:off x="4326650" y="799220"/>
            <a:ext cx="613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+mj-lt"/>
              </a:rPr>
              <a:t>Évolution (en %)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TX 2025 vs TX 2024</a:t>
            </a:r>
          </a:p>
        </p:txBody>
      </p:sp>
    </p:spTree>
    <p:extLst>
      <p:ext uri="{BB962C8B-B14F-4D97-AF65-F5344CB8AC3E}">
        <p14:creationId xmlns:p14="http://schemas.microsoft.com/office/powerpoint/2010/main" val="332190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4CB9-68C7-0E1C-8CD5-50FF2DE4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9451CF-7959-67C6-40D9-D80E7A76892B}"/>
              </a:ext>
            </a:extLst>
          </p:cNvPr>
          <p:cNvSpPr/>
          <p:nvPr/>
        </p:nvSpPr>
        <p:spPr>
          <a:xfrm>
            <a:off x="377459" y="1256501"/>
            <a:ext cx="4389120" cy="4019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3C982F-8A47-17B4-7829-892FDF582068}"/>
              </a:ext>
            </a:extLst>
          </p:cNvPr>
          <p:cNvSpPr txBox="1"/>
          <p:nvPr/>
        </p:nvSpPr>
        <p:spPr>
          <a:xfrm>
            <a:off x="120720" y="6158673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AF81554-B735-10F1-A106-0663A58315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B4403EF-1647-CFE6-F2E6-8AF6BA3C12DB}"/>
              </a:ext>
            </a:extLst>
          </p:cNvPr>
          <p:cNvSpPr txBox="1"/>
          <p:nvPr/>
        </p:nvSpPr>
        <p:spPr>
          <a:xfrm>
            <a:off x="120720" y="147901"/>
            <a:ext cx="10358919" cy="64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Répartition </a:t>
            </a:r>
            <a:r>
              <a:rPr lang="fr-FR" sz="2000" b="1" dirty="0"/>
              <a:t>des ouvertures de procédure collective selon le type de procédure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au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lt"/>
                <a:cs typeface="+mn-lt"/>
              </a:rPr>
              <a:t>Xème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lt"/>
                <a:cs typeface="+mn-lt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lt"/>
                <a:cs typeface="+mn-lt"/>
              </a:rPr>
              <a:t>trimestre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lt"/>
                <a:cs typeface="+mn-lt"/>
              </a:rPr>
              <a:t> 2025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aphicFrame>
        <p:nvGraphicFramePr>
          <p:cNvPr id="5" name="Chart 47">
            <a:extLst>
              <a:ext uri="{FF2B5EF4-FFF2-40B4-BE49-F238E27FC236}">
                <a16:creationId xmlns:a16="http://schemas.microsoft.com/office/drawing/2014/main" id="{07CFEC44-2869-86DF-CC43-8982D413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891709"/>
              </p:ext>
            </p:extLst>
          </p:nvPr>
        </p:nvGraphicFramePr>
        <p:xfrm>
          <a:off x="377459" y="-239448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1BDAB33-21E3-FC6E-1193-EAA892EFC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901930"/>
              </p:ext>
            </p:extLst>
          </p:nvPr>
        </p:nvGraphicFramePr>
        <p:xfrm>
          <a:off x="5551196" y="2107436"/>
          <a:ext cx="6263345" cy="249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6327">
                  <a:extLst>
                    <a:ext uri="{9D8B030D-6E8A-4147-A177-3AD203B41FA5}">
                      <a16:colId xmlns:a16="http://schemas.microsoft.com/office/drawing/2014/main" val="3921334122"/>
                    </a:ext>
                  </a:extLst>
                </a:gridCol>
                <a:gridCol w="953502">
                  <a:extLst>
                    <a:ext uri="{9D8B030D-6E8A-4147-A177-3AD203B41FA5}">
                      <a16:colId xmlns:a16="http://schemas.microsoft.com/office/drawing/2014/main" val="1153320540"/>
                    </a:ext>
                  </a:extLst>
                </a:gridCol>
                <a:gridCol w="1213516">
                  <a:extLst>
                    <a:ext uri="{9D8B030D-6E8A-4147-A177-3AD203B41FA5}">
                      <a16:colId xmlns:a16="http://schemas.microsoft.com/office/drawing/2014/main" val="963379330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Répartition par type d’</a:t>
                      </a:r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ouvertures </a:t>
                      </a:r>
                    </a:p>
                    <a:p>
                      <a:pPr algn="ctr">
                        <a:defRPr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de procédures collectives </a:t>
                      </a: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Nombre T3 2025</a:t>
                      </a: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Evolution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T3 2025 vs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T3 2024</a:t>
                      </a: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072106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Liquidation judiciaire</a:t>
                      </a:r>
                      <a:endParaRPr lang="fr-FR" sz="12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86756141"/>
                  </a:ext>
                </a:extLst>
              </a:tr>
              <a:tr h="6267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Redressement judiciaire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9747806"/>
                  </a:ext>
                </a:extLst>
              </a:tr>
              <a:tr h="5424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Procedure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sauvegarde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0918954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DFB532A2-FA8D-F15F-D68A-F9F4EBFCD9AF}"/>
              </a:ext>
            </a:extLst>
          </p:cNvPr>
          <p:cNvSpPr txBox="1"/>
          <p:nvPr/>
        </p:nvSpPr>
        <p:spPr>
          <a:xfrm>
            <a:off x="1448511" y="2943026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T3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3052874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DFBE-9473-6DEB-922F-72CC1A66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B206843-43FA-4968-4819-BF1A4DFB80BC}"/>
              </a:ext>
            </a:extLst>
          </p:cNvPr>
          <p:cNvSpPr txBox="1"/>
          <p:nvPr/>
        </p:nvSpPr>
        <p:spPr>
          <a:xfrm>
            <a:off x="3401961" y="324465"/>
            <a:ext cx="4385187" cy="43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8F329B6-D8A2-63A5-BB4C-2DB86CD49E34}"/>
              </a:ext>
            </a:extLst>
          </p:cNvPr>
          <p:cNvSpPr/>
          <p:nvPr/>
        </p:nvSpPr>
        <p:spPr>
          <a:xfrm>
            <a:off x="3039909" y="1451608"/>
            <a:ext cx="819150" cy="361950"/>
          </a:xfrm>
          <a:prstGeom prst="roundRect">
            <a:avLst/>
          </a:prstGeom>
          <a:noFill/>
          <a:ln>
            <a:solidFill>
              <a:srgbClr val="1C2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E542CD9-7CCC-0C28-0768-1534DB710AD6}"/>
              </a:ext>
            </a:extLst>
          </p:cNvPr>
          <p:cNvSpPr/>
          <p:nvPr/>
        </p:nvSpPr>
        <p:spPr>
          <a:xfrm>
            <a:off x="8431111" y="1453550"/>
            <a:ext cx="819150" cy="361950"/>
          </a:xfrm>
          <a:prstGeom prst="roundRect">
            <a:avLst/>
          </a:prstGeom>
          <a:noFill/>
          <a:ln>
            <a:solidFill>
              <a:srgbClr val="1C23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9660F-B3E4-DBFB-CDCD-7D5E8EB90720}"/>
              </a:ext>
            </a:extLst>
          </p:cNvPr>
          <p:cNvSpPr/>
          <p:nvPr/>
        </p:nvSpPr>
        <p:spPr>
          <a:xfrm>
            <a:off x="9474740" y="680936"/>
            <a:ext cx="1011677" cy="2237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996211-7D25-2DFA-92A4-3CFE2544C8A5}"/>
              </a:ext>
            </a:extLst>
          </p:cNvPr>
          <p:cNvSpPr txBox="1"/>
          <p:nvPr/>
        </p:nvSpPr>
        <p:spPr>
          <a:xfrm>
            <a:off x="91401" y="160131"/>
            <a:ext cx="11599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Répartition des ouvertures de procédures collectives par statut juridique au X</a:t>
            </a:r>
            <a:r>
              <a:rPr kumimoji="0" lang="fr-FR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ème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trimestre 2025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777753-406D-9D92-2EB7-41F7A979F8D2}"/>
              </a:ext>
            </a:extLst>
          </p:cNvPr>
          <p:cNvSpPr txBox="1"/>
          <p:nvPr/>
        </p:nvSpPr>
        <p:spPr>
          <a:xfrm>
            <a:off x="3113961" y="1444226"/>
            <a:ext cx="72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SARL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1070C5C-EA54-47B2-BAF8-54DF4073A064}"/>
              </a:ext>
            </a:extLst>
          </p:cNvPr>
          <p:cNvSpPr txBox="1"/>
          <p:nvPr/>
        </p:nvSpPr>
        <p:spPr>
          <a:xfrm>
            <a:off x="8536994" y="1451608"/>
            <a:ext cx="71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SAS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47EC8A55-8EB8-F793-913E-D63BF4E8A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73933"/>
              </p:ext>
            </p:extLst>
          </p:nvPr>
        </p:nvGraphicFramePr>
        <p:xfrm>
          <a:off x="725578" y="1854508"/>
          <a:ext cx="5685161" cy="40789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aphique 11">
            <a:extLst>
              <a:ext uri="{FF2B5EF4-FFF2-40B4-BE49-F238E27FC236}">
                <a16:creationId xmlns:a16="http://schemas.microsoft.com/office/drawing/2014/main" id="{18721CF0-8B3B-9C80-8D61-75B2EC4DC1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200590"/>
              </p:ext>
            </p:extLst>
          </p:nvPr>
        </p:nvGraphicFramePr>
        <p:xfrm>
          <a:off x="6096000" y="1859949"/>
          <a:ext cx="5595257" cy="4000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D321014D-38E7-519D-8CD5-825F86176946}"/>
              </a:ext>
            </a:extLst>
          </p:cNvPr>
          <p:cNvSpPr txBox="1"/>
          <p:nvPr/>
        </p:nvSpPr>
        <p:spPr>
          <a:xfrm>
            <a:off x="229022" y="5989983"/>
            <a:ext cx="47103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</a:t>
            </a:r>
            <a:r>
              <a:rPr lang="fr-FR" sz="1000" dirty="0">
                <a:latin typeface="Aptos" panose="020B0004020202020204"/>
              </a:rPr>
              <a:t>septembre</a:t>
            </a: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</p:spTree>
    <p:extLst>
      <p:ext uri="{BB962C8B-B14F-4D97-AF65-F5344CB8AC3E}">
        <p14:creationId xmlns:p14="http://schemas.microsoft.com/office/powerpoint/2010/main" val="404998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47B2-C83F-005A-7F7E-B2D474A9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3684940-6EC3-8C05-EAEA-922EC84243F6}"/>
              </a:ext>
            </a:extLst>
          </p:cNvPr>
          <p:cNvSpPr txBox="1"/>
          <p:nvPr/>
        </p:nvSpPr>
        <p:spPr>
          <a:xfrm>
            <a:off x="2277641" y="2967335"/>
            <a:ext cx="7838989" cy="92333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Radiations</a:t>
            </a:r>
          </a:p>
        </p:txBody>
      </p:sp>
    </p:spTree>
    <p:extLst>
      <p:ext uri="{BB962C8B-B14F-4D97-AF65-F5344CB8AC3E}">
        <p14:creationId xmlns:p14="http://schemas.microsoft.com/office/powerpoint/2010/main" val="117829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1EDB-B883-70CE-4990-2BA9B3B3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746F248-B932-1F6E-5CE4-83257E6083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8B2F2E-3CB4-199F-16BD-685AEBBD1605}"/>
              </a:ext>
            </a:extLst>
          </p:cNvPr>
          <p:cNvSpPr/>
          <p:nvPr/>
        </p:nvSpPr>
        <p:spPr>
          <a:xfrm>
            <a:off x="0" y="197964"/>
            <a:ext cx="1021338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radiations d’entreprises au X</a:t>
            </a:r>
            <a:r>
              <a:rPr lang="fr-FR" sz="2000" b="1" baseline="30000" dirty="0">
                <a:solidFill>
                  <a:prstClr val="white"/>
                </a:solidFill>
                <a:latin typeface="Aptos" panose="020B0004020202020204" pitchFamily="34" charset="0"/>
              </a:rPr>
              <a:t>ème</a:t>
            </a:r>
            <a:r>
              <a:rPr lang="fr-FR" sz="2000" b="1" dirty="0">
                <a:solidFill>
                  <a:prstClr val="white"/>
                </a:solidFill>
                <a:latin typeface="Aptos" panose="020B0004020202020204" pitchFamily="34" charset="0"/>
              </a:rPr>
              <a:t> trimestre 2025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90E837-0B37-CCCB-5C6A-4D8B64A168FB}"/>
              </a:ext>
            </a:extLst>
          </p:cNvPr>
          <p:cNvSpPr/>
          <p:nvPr/>
        </p:nvSpPr>
        <p:spPr>
          <a:xfrm>
            <a:off x="3334069" y="3495628"/>
            <a:ext cx="2024512" cy="7725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04CF9-721E-F755-1CCA-D4832AE6B456}"/>
              </a:ext>
            </a:extLst>
          </p:cNvPr>
          <p:cNvSpPr/>
          <p:nvPr/>
        </p:nvSpPr>
        <p:spPr>
          <a:xfrm>
            <a:off x="7171265" y="2751546"/>
            <a:ext cx="1551699" cy="6421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X%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prstClr val="white"/>
                </a:solidFill>
                <a:latin typeface="Aptos" panose="020B0004020202020204" pitchFamily="34" charset="0"/>
              </a:rPr>
              <a:t>TX 2024/TX 2025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42DCFE9-F61F-F8BB-DA0B-81C01F4FAC6A}"/>
              </a:ext>
            </a:extLst>
          </p:cNvPr>
          <p:cNvCxnSpPr/>
          <p:nvPr/>
        </p:nvCxnSpPr>
        <p:spPr>
          <a:xfrm flipV="1">
            <a:off x="5633884" y="3148840"/>
            <a:ext cx="1337187" cy="668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7369BD9-872D-CA30-0281-7BDA7B20E5D9}"/>
              </a:ext>
            </a:extLst>
          </p:cNvPr>
          <p:cNvSpPr txBox="1"/>
          <p:nvPr/>
        </p:nvSpPr>
        <p:spPr>
          <a:xfrm>
            <a:off x="0" y="6275899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2470720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B9AD-50BF-55AE-02F8-CB1A1D48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91F87EA-C51B-A1FE-D821-7B0B7B590A2B}"/>
              </a:ext>
            </a:extLst>
          </p:cNvPr>
          <p:cNvSpPr txBox="1"/>
          <p:nvPr/>
        </p:nvSpPr>
        <p:spPr>
          <a:xfrm>
            <a:off x="152853" y="104686"/>
            <a:ext cx="104026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Evolution</a:t>
            </a:r>
            <a:r>
              <a:rPr lang="en-US" sz="2000" b="1" dirty="0"/>
              <a:t> du </a:t>
            </a:r>
            <a:r>
              <a:rPr lang="en-US" sz="2000" b="1" dirty="0" err="1"/>
              <a:t>nombre</a:t>
            </a:r>
            <a:r>
              <a:rPr lang="en-US" sz="2000" b="1" dirty="0"/>
              <a:t> de radiations </a:t>
            </a:r>
            <a:r>
              <a:rPr lang="en-US" sz="2000" b="1" dirty="0" err="1"/>
              <a:t>d’entreprises</a:t>
            </a:r>
            <a:r>
              <a:rPr lang="en-US" sz="2000" b="1" dirty="0"/>
              <a:t> par </a:t>
            </a:r>
            <a:r>
              <a:rPr lang="en-US" sz="2000" b="1" dirty="0" err="1"/>
              <a:t>région</a:t>
            </a:r>
            <a:endParaRPr lang="en-US" sz="2000" b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2AEC7F-4672-95E2-FE81-CC184BF2604D}"/>
              </a:ext>
            </a:extLst>
          </p:cNvPr>
          <p:cNvSpPr txBox="1"/>
          <p:nvPr/>
        </p:nvSpPr>
        <p:spPr>
          <a:xfrm>
            <a:off x="152853" y="619931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41850"/>
              </p:ext>
            </p:extLst>
          </p:nvPr>
        </p:nvGraphicFramePr>
        <p:xfrm>
          <a:off x="2845942" y="803767"/>
          <a:ext cx="6205590" cy="5005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703"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dirty="0" err="1">
                          <a:latin typeface="Aptos" panose="020B0004020202020204" pitchFamily="34" charset="0"/>
                        </a:rPr>
                        <a:t>Évolution</a:t>
                      </a:r>
                      <a:r>
                        <a:rPr sz="1200" b="1" dirty="0">
                          <a:latin typeface="Aptos" panose="020B0004020202020204" pitchFamily="34" charset="0"/>
                        </a:rPr>
                        <a:t> (</a:t>
                      </a:r>
                      <a:r>
                        <a:rPr sz="1200" b="1" dirty="0" err="1">
                          <a:latin typeface="Aptos" panose="020B0004020202020204" pitchFamily="34" charset="0"/>
                        </a:rPr>
                        <a:t>en</a:t>
                      </a:r>
                      <a:r>
                        <a:rPr sz="1200" b="1" dirty="0">
                          <a:latin typeface="Aptos" panose="020B0004020202020204" pitchFamily="34" charset="0"/>
                        </a:rPr>
                        <a:t> %)</a:t>
                      </a:r>
                      <a:r>
                        <a:rPr lang="fr-FR" sz="1200" b="1" dirty="0">
                          <a:latin typeface="Aptos" panose="020B000402020202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T3 2025 vs T3 2024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 panose="020B0004020202020204" pitchFamily="34" charset="0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70C7BD58-64CB-E153-2677-209D46B5C1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2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E8F2-19AC-B8A4-A6F5-238052C0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9CE323F4-DA2D-9A79-D562-3E613763334C}"/>
              </a:ext>
            </a:extLst>
          </p:cNvPr>
          <p:cNvSpPr txBox="1"/>
          <p:nvPr/>
        </p:nvSpPr>
        <p:spPr>
          <a:xfrm>
            <a:off x="152853" y="619931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4A97D11-5B0D-E75B-55B4-47176A6908B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B5B8F73-559C-CA1F-D0D9-76A433D83A45}"/>
              </a:ext>
            </a:extLst>
          </p:cNvPr>
          <p:cNvSpPr txBox="1"/>
          <p:nvPr/>
        </p:nvSpPr>
        <p:spPr>
          <a:xfrm>
            <a:off x="152853" y="104686"/>
            <a:ext cx="10459092" cy="4022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/>
              <a:t>Evolution du </a:t>
            </a:r>
            <a:r>
              <a:rPr lang="en-US" sz="2000" b="1" dirty="0" err="1"/>
              <a:t>nombre</a:t>
            </a:r>
            <a:r>
              <a:rPr lang="en-US" sz="2000" b="1" dirty="0"/>
              <a:t> de radiations </a:t>
            </a:r>
            <a:r>
              <a:rPr lang="en-US" sz="2000" b="1" dirty="0" err="1"/>
              <a:t>d’entreprises</a:t>
            </a:r>
            <a:r>
              <a:rPr lang="en-US" sz="2000" b="1" dirty="0"/>
              <a:t> par </a:t>
            </a:r>
            <a:r>
              <a:rPr lang="en-US" sz="2000" b="1" dirty="0" err="1"/>
              <a:t>secteur</a:t>
            </a:r>
            <a:r>
              <a:rPr lang="en-US" sz="2000" b="1" dirty="0"/>
              <a:t> </a:t>
            </a:r>
            <a:r>
              <a:rPr lang="en-US" sz="2000" b="1" dirty="0" err="1"/>
              <a:t>d’activité</a:t>
            </a:r>
            <a:endParaRPr lang="en-US" sz="2000" b="1" dirty="0"/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60918"/>
              </p:ext>
            </p:extLst>
          </p:nvPr>
        </p:nvGraphicFramePr>
        <p:xfrm>
          <a:off x="2230719" y="1411644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ED26AE7C-274D-0F48-E138-2826C5E01D0D}"/>
              </a:ext>
            </a:extLst>
          </p:cNvPr>
          <p:cNvSpPr txBox="1"/>
          <p:nvPr/>
        </p:nvSpPr>
        <p:spPr>
          <a:xfrm>
            <a:off x="4326650" y="799220"/>
            <a:ext cx="613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+mj-lt"/>
              </a:rPr>
              <a:t>Évolution (en %)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T</a:t>
            </a:r>
            <a:r>
              <a:rPr lang="fr-FR" b="1" dirty="0">
                <a:latin typeface="+mj-lt"/>
              </a:rPr>
              <a:t>X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2025 vs TX 2024</a:t>
            </a:r>
          </a:p>
        </p:txBody>
      </p:sp>
    </p:spTree>
    <p:extLst>
      <p:ext uri="{BB962C8B-B14F-4D97-AF65-F5344CB8AC3E}">
        <p14:creationId xmlns:p14="http://schemas.microsoft.com/office/powerpoint/2010/main" val="879415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79EC1-B46E-F0BE-7602-B8437EFE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E99BFEF-4AFE-D705-153F-713FA1F812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EE9BC9-08DD-E3CC-05DE-80729613619E}"/>
              </a:ext>
            </a:extLst>
          </p:cNvPr>
          <p:cNvSpPr/>
          <p:nvPr/>
        </p:nvSpPr>
        <p:spPr>
          <a:xfrm>
            <a:off x="97855" y="100993"/>
            <a:ext cx="10213385" cy="492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chemeClr val="tx1"/>
                </a:solidFill>
                <a:latin typeface="Aptos" panose="020B0004020202020204" pitchFamily="34" charset="0"/>
              </a:rPr>
              <a:t>Radiations par forme juridique au Xème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D950A7C-BA56-C25F-4F53-39FA3E4659B0}"/>
              </a:ext>
            </a:extLst>
          </p:cNvPr>
          <p:cNvSpPr txBox="1"/>
          <p:nvPr/>
        </p:nvSpPr>
        <p:spPr>
          <a:xfrm>
            <a:off x="97855" y="6256386"/>
            <a:ext cx="115119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tribunau3 de commerce </a:t>
            </a:r>
            <a:endParaRPr lang="fr-FR" sz="1000" dirty="0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92FAE202-F1DB-EF63-9952-9460AD404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762067"/>
              </p:ext>
            </p:extLst>
          </p:nvPr>
        </p:nvGraphicFramePr>
        <p:xfrm>
          <a:off x="2895600" y="1488408"/>
          <a:ext cx="6400800" cy="388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372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Aptos" panose="020B0004020202020204" pitchFamily="34" charset="0"/>
                        </a:rPr>
                        <a:t>Formes juridiques 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Aptos" panose="020B0004020202020204" pitchFamily="34" charset="0"/>
                        </a:rPr>
                        <a:t>T3 </a:t>
                      </a:r>
                      <a:r>
                        <a:rPr sz="1200" dirty="0">
                          <a:latin typeface="Aptos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Aptos" panose="020B0004020202020204" pitchFamily="34" charset="0"/>
                        </a:rPr>
                        <a:t>Évolution</a:t>
                      </a:r>
                      <a:r>
                        <a:rPr sz="1200" dirty="0">
                          <a:latin typeface="Aptos" panose="020B0004020202020204" pitchFamily="34" charset="0"/>
                        </a:rPr>
                        <a:t> (%)</a:t>
                      </a:r>
                      <a:r>
                        <a:rPr lang="fr-FR" sz="1200" dirty="0">
                          <a:latin typeface="Aptos" panose="020B00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fr-FR" sz="1200" dirty="0">
                          <a:latin typeface="Aptos" panose="020B0004020202020204" pitchFamily="34" charset="0"/>
                        </a:rPr>
                        <a:t>T3 2024 vs T3 2025</a:t>
                      </a:r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49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 panose="020B0004020202020204" pitchFamily="34" charset="0"/>
                        </a:rPr>
                        <a:t>Société à 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responsabilité</a:t>
                      </a:r>
                      <a:r>
                        <a:rPr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limitée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49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Aptos" panose="020B0004020202020204" pitchFamily="34" charset="0"/>
                        </a:rPr>
                        <a:t>Société civile 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immobilière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49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Aptos" panose="020B0004020202020204" pitchFamily="34" charset="0"/>
                        </a:rPr>
                        <a:t>Société par actions simplifiée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21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 panose="020B0004020202020204" pitchFamily="34" charset="0"/>
                        </a:rPr>
                        <a:t>Commerçant</a:t>
                      </a:r>
                      <a:r>
                        <a:rPr lang="fr-FR"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400" b="0" u="none" strike="noStrike" dirty="0">
                          <a:effectLst/>
                        </a:rPr>
                        <a:t>(</a:t>
                      </a:r>
                      <a:r>
                        <a:rPr lang="fr-FR" sz="1400" dirty="0"/>
                        <a:t>Entreprise immatriculée au RCS en tant que personne physique (=entreprise individuelle))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49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latin typeface="Aptos" panose="020B0004020202020204" pitchFamily="34" charset="0"/>
                        </a:rPr>
                        <a:t>Autres</a:t>
                      </a:r>
                      <a:r>
                        <a:rPr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formes</a:t>
                      </a:r>
                      <a:r>
                        <a:rPr sz="14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sz="1400" dirty="0" err="1">
                          <a:latin typeface="Aptos" panose="020B0004020202020204" pitchFamily="34" charset="0"/>
                        </a:rPr>
                        <a:t>juridiques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52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485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89F5-1186-F13A-0F10-16293EFE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CF14369-72C0-775E-E9C9-93D933AF93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2853B9-1136-7408-98DC-5D4696EF27CA}"/>
              </a:ext>
            </a:extLst>
          </p:cNvPr>
          <p:cNvSpPr/>
          <p:nvPr/>
        </p:nvSpPr>
        <p:spPr>
          <a:xfrm>
            <a:off x="97855" y="132461"/>
            <a:ext cx="10213385" cy="492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chemeClr val="tx1"/>
                </a:solidFill>
                <a:latin typeface="Aptos" panose="020B0004020202020204" pitchFamily="34" charset="0"/>
              </a:rPr>
              <a:t>Répartition des motifs de radiations d’entreprises au Xème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7E7905-28D2-A295-CBE5-20F757EE9958}"/>
              </a:ext>
            </a:extLst>
          </p:cNvPr>
          <p:cNvSpPr txBox="1"/>
          <p:nvPr/>
        </p:nvSpPr>
        <p:spPr>
          <a:xfrm>
            <a:off x="97855" y="6256386"/>
            <a:ext cx="115119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tribunau3 de commerce </a:t>
            </a:r>
            <a:endParaRPr lang="fr-FR" sz="1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669976"/>
              </p:ext>
            </p:extLst>
          </p:nvPr>
        </p:nvGraphicFramePr>
        <p:xfrm>
          <a:off x="2392187" y="2082638"/>
          <a:ext cx="7407626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9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6731">
                  <a:extLst>
                    <a:ext uri="{9D8B030D-6E8A-4147-A177-3AD203B41FA5}">
                      <a16:colId xmlns:a16="http://schemas.microsoft.com/office/drawing/2014/main" val="3191679555"/>
                    </a:ext>
                  </a:extLst>
                </a:gridCol>
              </a:tblGrid>
              <a:tr h="30325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Motifs</a:t>
                      </a:r>
                      <a:r>
                        <a:rPr sz="1400" dirty="0"/>
                        <a:t> de radiation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T3 2025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Aptos" panose="020B0004020202020204" pitchFamily="34" charset="0"/>
                        </a:rPr>
                        <a:t>Évolution (%) </a:t>
                      </a:r>
                    </a:p>
                    <a:p>
                      <a:pPr algn="ctr"/>
                      <a:r>
                        <a:rPr lang="fr-FR" sz="1400" dirty="0">
                          <a:latin typeface="Aptos" panose="020B0004020202020204" pitchFamily="34" charset="0"/>
                        </a:rPr>
                        <a:t>T3 2025 vs T3 2024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Radiation</a:t>
                      </a:r>
                      <a:r>
                        <a:rPr lang="fr-FR" sz="1400" dirty="0"/>
                        <a:t>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d’office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Radiations </a:t>
                      </a:r>
                      <a:r>
                        <a:rPr sz="1400" dirty="0" err="1"/>
                        <a:t>volontaires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Radiations à la suite </a:t>
                      </a:r>
                      <a:r>
                        <a:rPr sz="1400" dirty="0" err="1"/>
                        <a:t>d'une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procédure</a:t>
                      </a:r>
                      <a:r>
                        <a:rPr sz="1400" dirty="0"/>
                        <a:t> collective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dirty="0" err="1"/>
                        <a:t>Autre</a:t>
                      </a:r>
                      <a:r>
                        <a:rPr lang="fr-FR" sz="1400" dirty="0"/>
                        <a:t>s motifs</a:t>
                      </a:r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/>
                        <a:t>Pourcentage des</a:t>
                      </a:r>
                      <a:r>
                        <a:rPr sz="1400" b="1" dirty="0"/>
                        <a:t> </a:t>
                      </a:r>
                      <a:r>
                        <a:rPr lang="fr-FR" sz="1400" b="1" dirty="0"/>
                        <a:t>r</a:t>
                      </a:r>
                      <a:r>
                        <a:rPr sz="1400" b="1" dirty="0"/>
                        <a:t>adiations </a:t>
                      </a:r>
                      <a:r>
                        <a:rPr sz="1400" b="1" dirty="0" err="1"/>
                        <a:t>d’office</a:t>
                      </a:r>
                      <a:r>
                        <a:rPr sz="1400" b="1" dirty="0"/>
                        <a:t> </a:t>
                      </a:r>
                      <a:r>
                        <a:rPr lang="fr-FR" sz="1400" b="1" dirty="0"/>
                        <a:t> par rapport au</a:t>
                      </a:r>
                      <a:r>
                        <a:rPr sz="1400" b="1" dirty="0"/>
                        <a:t> </a:t>
                      </a:r>
                      <a:r>
                        <a:rPr lang="fr-FR" sz="1400" b="1" dirty="0"/>
                        <a:t>t</a:t>
                      </a:r>
                      <a:r>
                        <a:rPr sz="1400" b="1" dirty="0" err="1"/>
                        <a:t>otal</a:t>
                      </a:r>
                      <a:r>
                        <a:rPr lang="fr-FR" sz="1400" b="1" dirty="0"/>
                        <a:t> des radiations</a:t>
                      </a:r>
                      <a:endParaRPr sz="14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4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10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7B77-7E1A-A565-A2B5-BB79B2DD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07DB74E-80B1-23E4-AC02-2070B32392A8}"/>
              </a:ext>
            </a:extLst>
          </p:cNvPr>
          <p:cNvSpPr txBox="1"/>
          <p:nvPr/>
        </p:nvSpPr>
        <p:spPr>
          <a:xfrm>
            <a:off x="2277641" y="2551836"/>
            <a:ext cx="7838989" cy="1754326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cs typeface="Arial"/>
              </a:rPr>
              <a:t>Transferts de sièges sociaux par région </a:t>
            </a:r>
          </a:p>
        </p:txBody>
      </p:sp>
    </p:spTree>
    <p:extLst>
      <p:ext uri="{BB962C8B-B14F-4D97-AF65-F5344CB8AC3E}">
        <p14:creationId xmlns:p14="http://schemas.microsoft.com/office/powerpoint/2010/main" val="2003230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9F4A-408E-3489-C8DD-370EC05F1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88FBA571-1B35-62C1-6354-5A473F7F6E33}"/>
              </a:ext>
            </a:extLst>
          </p:cNvPr>
          <p:cNvSpPr txBox="1"/>
          <p:nvPr/>
        </p:nvSpPr>
        <p:spPr>
          <a:xfrm>
            <a:off x="143328" y="619931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0BF8E60-2F49-1EF3-279D-A5315F2AB7B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96792F4-C725-2AE2-8A75-D75CD548B7C1}"/>
              </a:ext>
            </a:extLst>
          </p:cNvPr>
          <p:cNvSpPr txBox="1"/>
          <p:nvPr/>
        </p:nvSpPr>
        <p:spPr>
          <a:xfrm>
            <a:off x="143328" y="39756"/>
            <a:ext cx="10459092" cy="1017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000" b="1" dirty="0"/>
              <a:t>Solde net de transferts de sièges sociaux par région </a:t>
            </a:r>
            <a:endParaRPr lang="en-US" sz="2000" b="1" dirty="0"/>
          </a:p>
        </p:txBody>
      </p:sp>
      <p:graphicFrame>
        <p:nvGraphicFramePr>
          <p:cNvPr id="2" name="Chart 23">
            <a:extLst>
              <a:ext uri="{FF2B5EF4-FFF2-40B4-BE49-F238E27FC236}">
                <a16:creationId xmlns:a16="http://schemas.microsoft.com/office/drawing/2014/main" id="{66AA7A15-3187-2415-1D1C-63A3ACDD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20594"/>
              </p:ext>
            </p:extLst>
          </p:nvPr>
        </p:nvGraphicFramePr>
        <p:xfrm>
          <a:off x="1981200" y="786765"/>
          <a:ext cx="82296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09015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E6EF-43FD-52D4-8483-D5A2889B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23D27F8B-63B1-B1CB-1649-391FD834B212}"/>
              </a:ext>
            </a:extLst>
          </p:cNvPr>
          <p:cNvSpPr txBox="1"/>
          <p:nvPr/>
        </p:nvSpPr>
        <p:spPr>
          <a:xfrm>
            <a:off x="0" y="104686"/>
            <a:ext cx="9134061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/>
              <a:t>Solde</a:t>
            </a:r>
            <a:r>
              <a:rPr lang="en-US" sz="2000" b="1" dirty="0"/>
              <a:t> net de </a:t>
            </a:r>
            <a:r>
              <a:rPr lang="en-US" sz="2000" b="1" dirty="0" err="1"/>
              <a:t>transferts</a:t>
            </a:r>
            <a:r>
              <a:rPr lang="en-US" sz="2000" b="1" dirty="0"/>
              <a:t> de </a:t>
            </a:r>
            <a:r>
              <a:rPr lang="en-US" sz="2000" b="1" dirty="0" err="1"/>
              <a:t>sièges</a:t>
            </a:r>
            <a:r>
              <a:rPr lang="en-US" sz="2000" b="1" dirty="0"/>
              <a:t> </a:t>
            </a:r>
            <a:r>
              <a:rPr lang="en-US" sz="2000" b="1" dirty="0" err="1"/>
              <a:t>sociaux</a:t>
            </a:r>
            <a:r>
              <a:rPr lang="en-US" sz="2000" b="1" dirty="0"/>
              <a:t> par region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</a:t>
            </a:r>
            <a:r>
              <a:rPr lang="en-US" sz="2000" b="1" dirty="0"/>
              <a:t>025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9CCB355-BA4A-89CF-E140-99957707DCDB}"/>
              </a:ext>
            </a:extLst>
          </p:cNvPr>
          <p:cNvSpPr txBox="1"/>
          <p:nvPr/>
        </p:nvSpPr>
        <p:spPr>
          <a:xfrm>
            <a:off x="152853" y="619931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36319A9-3F97-0016-E3EC-EADAE494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69348"/>
              </p:ext>
            </p:extLst>
          </p:nvPr>
        </p:nvGraphicFramePr>
        <p:xfrm>
          <a:off x="2845942" y="803767"/>
          <a:ext cx="6205590" cy="4822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703"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latin typeface="Aptos" panose="020B0004020202020204" pitchFamily="34" charset="0"/>
                        </a:rPr>
                        <a:t>Régions</a:t>
                      </a:r>
                      <a:endParaRPr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latin typeface="Aptos" panose="020B0004020202020204" pitchFamily="34" charset="0"/>
                        </a:rPr>
                        <a:t>Solde net</a:t>
                      </a:r>
                      <a:r>
                        <a:rPr sz="1200" b="1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T3 2025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Calibri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Calibri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latin typeface="Calibri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B1DC593E-6A7A-5FA0-DA5E-A5797C2030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02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008B-5954-1C18-A9FF-01CC8EF3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83CEB89-DFFF-C80D-93BE-D1FD87CC723C}"/>
              </a:ext>
            </a:extLst>
          </p:cNvPr>
          <p:cNvSpPr txBox="1"/>
          <p:nvPr/>
        </p:nvSpPr>
        <p:spPr>
          <a:xfrm>
            <a:off x="2499327" y="2967335"/>
            <a:ext cx="7193345" cy="92333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Injonctions de payer</a:t>
            </a:r>
          </a:p>
        </p:txBody>
      </p:sp>
    </p:spTree>
    <p:extLst>
      <p:ext uri="{BB962C8B-B14F-4D97-AF65-F5344CB8AC3E}">
        <p14:creationId xmlns:p14="http://schemas.microsoft.com/office/powerpoint/2010/main" val="2011763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9216-A41B-2008-4125-0FDB033F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6F3E3ABC-C81E-9796-010C-9DE2926DACF3}"/>
              </a:ext>
            </a:extLst>
          </p:cNvPr>
          <p:cNvSpPr txBox="1"/>
          <p:nvPr/>
        </p:nvSpPr>
        <p:spPr>
          <a:xfrm>
            <a:off x="0" y="104686"/>
            <a:ext cx="10634870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Evolution des ordonnances </a:t>
            </a:r>
            <a:r>
              <a:rPr lang="en-US" sz="2000" b="1" dirty="0" err="1"/>
              <a:t>portant</a:t>
            </a:r>
            <a:r>
              <a:rPr lang="en-US" sz="2000" b="1" dirty="0"/>
              <a:t> </a:t>
            </a:r>
            <a:r>
              <a:rPr lang="en-US" sz="2000" b="1" dirty="0" err="1"/>
              <a:t>injonction</a:t>
            </a:r>
            <a:r>
              <a:rPr lang="en-US" sz="2000" b="1" dirty="0"/>
              <a:t> de payer par </a:t>
            </a:r>
            <a:r>
              <a:rPr lang="en-US" sz="2000" b="1" dirty="0" err="1"/>
              <a:t>région</a:t>
            </a:r>
            <a:r>
              <a:rPr lang="en-US" sz="2000" b="1" dirty="0"/>
              <a:t>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en-US" sz="2000" b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2EA6E15-CAA0-651A-171A-F6546EA2D6FF}"/>
              </a:ext>
            </a:extLst>
          </p:cNvPr>
          <p:cNvSpPr txBox="1"/>
          <p:nvPr/>
        </p:nvSpPr>
        <p:spPr>
          <a:xfrm>
            <a:off x="152853" y="6199316"/>
            <a:ext cx="88986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A8B2B91-E88B-1EED-76B8-28F8273A1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611472"/>
              </p:ext>
            </p:extLst>
          </p:nvPr>
        </p:nvGraphicFramePr>
        <p:xfrm>
          <a:off x="1499397" y="834997"/>
          <a:ext cx="6205590" cy="5005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530">
                  <a:extLst>
                    <a:ext uri="{9D8B030D-6E8A-4147-A177-3AD203B41FA5}">
                      <a16:colId xmlns:a16="http://schemas.microsoft.com/office/drawing/2014/main" val="628840150"/>
                    </a:ext>
                  </a:extLst>
                </a:gridCol>
                <a:gridCol w="2068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70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Régions</a:t>
                      </a:r>
                      <a:endParaRPr sz="1200" dirty="0">
                        <a:latin typeface="+mj-lt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Nombre T3 2025</a:t>
                      </a:r>
                      <a:endParaRPr sz="1200" dirty="0">
                        <a:latin typeface="+mj-lt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Évolution (%) </a:t>
                      </a:r>
                    </a:p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T3 2025 vs T3 2024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18144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latin typeface="Calibri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A665C28C-98F9-E2EF-12CE-35F56ECE6F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2" name="ZoneTexte 9">
            <a:extLst>
              <a:ext uri="{FF2B5EF4-FFF2-40B4-BE49-F238E27FC236}">
                <a16:creationId xmlns:a16="http://schemas.microsoft.com/office/drawing/2014/main" id="{1E2A98B5-2B2E-69D6-6B4D-146110E63236}"/>
              </a:ext>
            </a:extLst>
          </p:cNvPr>
          <p:cNvSpPr txBox="1"/>
          <p:nvPr/>
        </p:nvSpPr>
        <p:spPr>
          <a:xfrm>
            <a:off x="8056053" y="2097457"/>
            <a:ext cx="387537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600" b="1" dirty="0">
                <a:latin typeface="Aptos"/>
                <a:cs typeface="Arial"/>
              </a:rPr>
              <a:t>Total du nombre d’injonctions de payer TX 2025 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EA74F-F05B-6531-BF8A-9CA6D22D282C}"/>
              </a:ext>
            </a:extLst>
          </p:cNvPr>
          <p:cNvSpPr/>
          <p:nvPr/>
        </p:nvSpPr>
        <p:spPr>
          <a:xfrm>
            <a:off x="9218308" y="2765157"/>
            <a:ext cx="1550867" cy="477114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82900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4736-BAA5-4FC1-AD6D-CF80CDFD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4DA5C88-DB55-839A-9F14-46116EE0287D}"/>
              </a:ext>
            </a:extLst>
          </p:cNvPr>
          <p:cNvSpPr txBox="1"/>
          <p:nvPr/>
        </p:nvSpPr>
        <p:spPr>
          <a:xfrm>
            <a:off x="138661" y="221643"/>
            <a:ext cx="12181907" cy="417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Répartition</a:t>
            </a:r>
            <a:r>
              <a:rPr lang="en-US" sz="2000" b="1" dirty="0"/>
              <a:t> des ordonnances </a:t>
            </a:r>
            <a:r>
              <a:rPr lang="en-US" sz="2000" b="1" dirty="0" err="1"/>
              <a:t>portant</a:t>
            </a:r>
            <a:r>
              <a:rPr lang="en-US" sz="2000" b="1" dirty="0"/>
              <a:t> </a:t>
            </a:r>
            <a:r>
              <a:rPr lang="en-US" sz="2000" b="1" dirty="0" err="1"/>
              <a:t>injonction</a:t>
            </a:r>
            <a:r>
              <a:rPr lang="en-US" sz="2000" b="1" dirty="0"/>
              <a:t> de payer par </a:t>
            </a:r>
            <a:r>
              <a:rPr lang="en-US" sz="2000" b="1" dirty="0" err="1"/>
              <a:t>secteur</a:t>
            </a:r>
            <a:r>
              <a:rPr lang="en-US" sz="2000" b="1" dirty="0"/>
              <a:t> </a:t>
            </a:r>
            <a:r>
              <a:rPr lang="en-US" sz="2000" b="1" dirty="0" err="1"/>
              <a:t>d’activité</a:t>
            </a:r>
            <a:r>
              <a:rPr lang="en-US" sz="2000" b="1" dirty="0"/>
              <a:t> </a:t>
            </a:r>
            <a:r>
              <a:rPr lang="fr-FR" sz="2000" b="1" dirty="0"/>
              <a:t>au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2000" b="1" dirty="0"/>
              <a:t>X</a:t>
            </a:r>
            <a:r>
              <a:rPr lang="fr-FR" sz="2000" b="1" baseline="30000" dirty="0"/>
              <a:t>ème</a:t>
            </a:r>
            <a:r>
              <a:rPr lang="fr-FR" sz="2000" b="1" dirty="0"/>
              <a:t> trimestre </a:t>
            </a:r>
            <a:r>
              <a:rPr lang="en-US" sz="2000" b="1" dirty="0"/>
              <a:t>2025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E49977-763C-045B-2283-07ED03687E64}"/>
              </a:ext>
            </a:extLst>
          </p:cNvPr>
          <p:cNvSpPr txBox="1"/>
          <p:nvPr/>
        </p:nvSpPr>
        <p:spPr>
          <a:xfrm>
            <a:off x="212189" y="5928471"/>
            <a:ext cx="5379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 </a:t>
            </a:r>
            <a:endParaRPr lang="fr-FR" sz="1000" dirty="0"/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32818"/>
              </p:ext>
            </p:extLst>
          </p:nvPr>
        </p:nvGraphicFramePr>
        <p:xfrm>
          <a:off x="3901440" y="-38763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E3A30A5D-6613-7C00-1606-E8D3A542F8E9}"/>
              </a:ext>
            </a:extLst>
          </p:cNvPr>
          <p:cNvSpPr txBox="1"/>
          <p:nvPr/>
        </p:nvSpPr>
        <p:spPr>
          <a:xfrm>
            <a:off x="4972492" y="314717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8ADF76-18FE-B1EB-5C50-BEF9C80FB8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12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5786-8E14-CAB5-4CCA-97A27466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BBECD3E-D1E4-4614-9C25-1D452F0AE3BC}"/>
              </a:ext>
            </a:extLst>
          </p:cNvPr>
          <p:cNvSpPr txBox="1"/>
          <p:nvPr/>
        </p:nvSpPr>
        <p:spPr>
          <a:xfrm>
            <a:off x="89479" y="132533"/>
            <a:ext cx="8925312" cy="707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Répartition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des ordonnances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portant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injonction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payer par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forme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juridique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au </a:t>
            </a:r>
            <a:r>
              <a:rPr lang="en-US" sz="2000" b="1" dirty="0" err="1">
                <a:latin typeface="+mj-lt"/>
                <a:ea typeface="+mn-lt"/>
                <a:cs typeface="+mn-lt"/>
              </a:rPr>
              <a:t>Xème</a:t>
            </a:r>
            <a:r>
              <a:rPr lang="en-US" sz="2000" b="1" dirty="0">
                <a:latin typeface="+mj-lt"/>
                <a:ea typeface="+mn-lt"/>
                <a:cs typeface="+mn-lt"/>
              </a:rPr>
              <a:t> </a:t>
            </a:r>
            <a:r>
              <a:rPr lang="en-US" sz="2000" b="1" dirty="0" err="1">
                <a:latin typeface="+mj-lt"/>
                <a:ea typeface="+mn-lt"/>
                <a:cs typeface="+mn-lt"/>
              </a:rPr>
              <a:t>trimestre</a:t>
            </a:r>
            <a:r>
              <a:rPr lang="en-US" sz="2000" b="1" dirty="0">
                <a:latin typeface="+mj-lt"/>
                <a:ea typeface="+mn-lt"/>
                <a:cs typeface="+mn-lt"/>
              </a:rPr>
              <a:t> 2025</a:t>
            </a:r>
            <a:endParaRPr lang="en-US" sz="2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BB7F41-93FB-AF2F-7539-F6ACE21B682E}"/>
              </a:ext>
            </a:extLst>
          </p:cNvPr>
          <p:cNvSpPr txBox="1"/>
          <p:nvPr/>
        </p:nvSpPr>
        <p:spPr>
          <a:xfrm>
            <a:off x="298200" y="5898312"/>
            <a:ext cx="4302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 </a:t>
            </a:r>
            <a:endParaRPr lang="fr-FR" sz="1000" dirty="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629"/>
              </p:ext>
            </p:extLst>
          </p:nvPr>
        </p:nvGraphicFramePr>
        <p:xfrm>
          <a:off x="3860040" y="-68922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BDC340B2-7017-0C11-FB83-9DDBB87FEDDC}"/>
              </a:ext>
            </a:extLst>
          </p:cNvPr>
          <p:cNvSpPr txBox="1"/>
          <p:nvPr/>
        </p:nvSpPr>
        <p:spPr>
          <a:xfrm>
            <a:off x="4931092" y="3268638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A203A05-C1C8-A8D7-B6E1-C9F872B768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91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F2BD-58C8-2174-981A-FFE783FE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DEE82C8-C5C2-989D-0739-B096F755A970}"/>
              </a:ext>
            </a:extLst>
          </p:cNvPr>
          <p:cNvSpPr txBox="1"/>
          <p:nvPr/>
        </p:nvSpPr>
        <p:spPr>
          <a:xfrm>
            <a:off x="2176505" y="2551837"/>
            <a:ext cx="7838989" cy="1754326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Inscriptions de privilèges du Trésor </a:t>
            </a:r>
          </a:p>
        </p:txBody>
      </p:sp>
    </p:spTree>
    <p:extLst>
      <p:ext uri="{BB962C8B-B14F-4D97-AF65-F5344CB8AC3E}">
        <p14:creationId xmlns:p14="http://schemas.microsoft.com/office/powerpoint/2010/main" val="614039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05D26-4D34-FA09-1876-5B1652C5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DEB6BD82-6588-CDC8-C34F-E6DA69AB1C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302" y="187604"/>
            <a:ext cx="1240876" cy="4924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B081BBC-EC79-CBDD-48D0-B3C98AB5DBF3}"/>
              </a:ext>
            </a:extLst>
          </p:cNvPr>
          <p:cNvSpPr txBox="1"/>
          <p:nvPr/>
        </p:nvSpPr>
        <p:spPr>
          <a:xfrm>
            <a:off x="8141" y="166710"/>
            <a:ext cx="1079116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fr-FR" sz="2000" b="1" dirty="0">
                <a:latin typeface="Aptos "/>
                <a:cs typeface="Arial" panose="020B0604020202020204" pitchFamily="34" charset="0"/>
              </a:rPr>
              <a:t>Nombre et montant moyen d’ une inscription de privilèges de trésor au </a:t>
            </a:r>
            <a:r>
              <a:rPr lang="en-US" sz="2000" b="1" dirty="0" err="1">
                <a:latin typeface="Aptos "/>
                <a:ea typeface="+mn-lt"/>
                <a:cs typeface="+mn-lt"/>
              </a:rPr>
              <a:t>Xème</a:t>
            </a:r>
            <a:r>
              <a:rPr lang="en-US" sz="2000" b="1" dirty="0">
                <a:latin typeface="Aptos "/>
                <a:ea typeface="+mn-lt"/>
                <a:cs typeface="+mn-lt"/>
              </a:rPr>
              <a:t> </a:t>
            </a:r>
            <a:r>
              <a:rPr lang="en-US" sz="2000" b="1" dirty="0" err="1">
                <a:latin typeface="Aptos "/>
                <a:ea typeface="+mn-lt"/>
                <a:cs typeface="+mn-lt"/>
              </a:rPr>
              <a:t>trimestre</a:t>
            </a:r>
            <a:r>
              <a:rPr lang="en-US" sz="2000" b="1" dirty="0">
                <a:latin typeface="Aptos "/>
                <a:ea typeface="+mn-lt"/>
                <a:cs typeface="+mn-lt"/>
              </a:rPr>
              <a:t> 2025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"/>
              <a:cs typeface="Arial" panose="020B0604020202020204" pitchFamily="34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EA2274B-906D-A368-3338-6C55B7095F57}"/>
              </a:ext>
            </a:extLst>
          </p:cNvPr>
          <p:cNvSpPr/>
          <p:nvPr/>
        </p:nvSpPr>
        <p:spPr>
          <a:xfrm>
            <a:off x="10338083" y="2494081"/>
            <a:ext cx="1260000" cy="1260000"/>
          </a:xfrm>
          <a:prstGeom prst="ellipse">
            <a:avLst/>
          </a:prstGeom>
          <a:solidFill>
            <a:srgbClr val="1C23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MONTANT </a:t>
            </a:r>
          </a:p>
          <a:p>
            <a:pPr lvl="0" algn="ctr">
              <a:defRPr/>
            </a:pP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  <a:p>
            <a:pPr lvl="0" algn="ctr">
              <a:defRPr/>
            </a:pPr>
            <a:r>
              <a:rPr kumimoji="0" lang="fr-F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 T3 2024 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470A4A2-4E0D-E528-4E83-0EA2F203027D}"/>
              </a:ext>
            </a:extLst>
          </p:cNvPr>
          <p:cNvSpPr/>
          <p:nvPr/>
        </p:nvSpPr>
        <p:spPr>
          <a:xfrm>
            <a:off x="4353746" y="2494081"/>
            <a:ext cx="1290225" cy="1260000"/>
          </a:xfrm>
          <a:prstGeom prst="ellipse">
            <a:avLst/>
          </a:prstGeom>
          <a:solidFill>
            <a:srgbClr val="1C23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NOMBRE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b="1" kern="0" dirty="0">
                <a:solidFill>
                  <a:prstClr val="white"/>
                </a:solidFill>
                <a:latin typeface="Calibri" panose="020F0502020204030204"/>
              </a:rPr>
              <a:t>INSCRIPTIONS</a:t>
            </a:r>
            <a:endParaRPr kumimoji="0" lang="fr-FR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 T3 2024 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B30646E-3950-3F55-22BA-E5E50CB5FD7B}"/>
              </a:ext>
            </a:extLst>
          </p:cNvPr>
          <p:cNvSpPr/>
          <p:nvPr/>
        </p:nvSpPr>
        <p:spPr>
          <a:xfrm>
            <a:off x="641157" y="2056148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3AECAE-E890-4340-DC7E-593A7D6D54F3}"/>
              </a:ext>
            </a:extLst>
          </p:cNvPr>
          <p:cNvSpPr/>
          <p:nvPr/>
        </p:nvSpPr>
        <p:spPr>
          <a:xfrm>
            <a:off x="6629430" y="2056148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MONTANT MOYEN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white"/>
                </a:solidFill>
                <a:latin typeface="Calibri" panose="020B0004020202020204" pitchFamily="34" charset="0"/>
              </a:rPr>
              <a:t>PAR INSCRIPTION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9648785-6CAD-5AFD-5BC3-B62827BEE9DC}"/>
              </a:ext>
            </a:extLst>
          </p:cNvPr>
          <p:cNvSpPr/>
          <p:nvPr/>
        </p:nvSpPr>
        <p:spPr>
          <a:xfrm>
            <a:off x="641157" y="3542514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Calibri" panose="020B0004020202020204" pitchFamily="34" charset="0"/>
              </a:rPr>
              <a:t>B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D459151-35D2-CAD0-E2FB-2D22D261AB66}"/>
              </a:ext>
            </a:extLst>
          </p:cNvPr>
          <p:cNvSpPr/>
          <p:nvPr/>
        </p:nvSpPr>
        <p:spPr>
          <a:xfrm>
            <a:off x="6629430" y="3542514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MONTANT MOYEN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white"/>
                </a:solidFill>
                <a:latin typeface="Calibri" panose="020B0004020202020204" pitchFamily="34" charset="0"/>
              </a:rPr>
              <a:t>PAR INSCRIPTION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Calibri" panose="020B0004020202020204" pitchFamily="34" charset="0"/>
              </a:rPr>
              <a:t>D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56508CD-40AB-0875-3450-562B3526E5D0}"/>
              </a:ext>
            </a:extLst>
          </p:cNvPr>
          <p:cNvSpPr txBox="1"/>
          <p:nvPr/>
        </p:nvSpPr>
        <p:spPr>
          <a:xfrm>
            <a:off x="657239" y="2066961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 2025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5107F1A-5383-044C-7397-FD37549F6A7E}"/>
              </a:ext>
            </a:extLst>
          </p:cNvPr>
          <p:cNvSpPr txBox="1"/>
          <p:nvPr/>
        </p:nvSpPr>
        <p:spPr>
          <a:xfrm>
            <a:off x="657239" y="3562507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2024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106B5B2-3850-87B4-1865-E4DB60AFE8E8}"/>
              </a:ext>
            </a:extLst>
          </p:cNvPr>
          <p:cNvSpPr txBox="1"/>
          <p:nvPr/>
        </p:nvSpPr>
        <p:spPr>
          <a:xfrm>
            <a:off x="6688285" y="2123784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2025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60D3758-3A7D-8264-2D6D-858F4B5E62A8}"/>
              </a:ext>
            </a:extLst>
          </p:cNvPr>
          <p:cNvSpPr txBox="1"/>
          <p:nvPr/>
        </p:nvSpPr>
        <p:spPr>
          <a:xfrm>
            <a:off x="6624963" y="3635851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2024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Flèche : haut 19">
            <a:extLst>
              <a:ext uri="{FF2B5EF4-FFF2-40B4-BE49-F238E27FC236}">
                <a16:creationId xmlns:a16="http://schemas.microsoft.com/office/drawing/2014/main" id="{BAD2F710-80BD-3242-25CE-A9DF09102DA2}"/>
              </a:ext>
            </a:extLst>
          </p:cNvPr>
          <p:cNvSpPr/>
          <p:nvPr/>
        </p:nvSpPr>
        <p:spPr>
          <a:xfrm>
            <a:off x="2110392" y="2980690"/>
            <a:ext cx="513708" cy="356656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haut 22">
            <a:extLst>
              <a:ext uri="{FF2B5EF4-FFF2-40B4-BE49-F238E27FC236}">
                <a16:creationId xmlns:a16="http://schemas.microsoft.com/office/drawing/2014/main" id="{5E3C1B64-22D8-C720-6840-1CBB8C27F08E}"/>
              </a:ext>
            </a:extLst>
          </p:cNvPr>
          <p:cNvSpPr/>
          <p:nvPr/>
        </p:nvSpPr>
        <p:spPr>
          <a:xfrm>
            <a:off x="8102655" y="3006056"/>
            <a:ext cx="513708" cy="356656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7783D7C-0F68-DB94-B0A6-E181B5205A2B}"/>
              </a:ext>
            </a:extLst>
          </p:cNvPr>
          <p:cNvSpPr txBox="1"/>
          <p:nvPr/>
        </p:nvSpPr>
        <p:spPr>
          <a:xfrm>
            <a:off x="184925" y="6137292"/>
            <a:ext cx="54590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latin typeface="Calibri"/>
              </a:rPr>
              <a:t>Données </a:t>
            </a:r>
            <a:r>
              <a:rPr lang="fr-FR" sz="1000" i="0" u="none" strike="noStrike" baseline="0" dirty="0">
                <a:latin typeface="Calibri"/>
              </a:rPr>
              <a:t>sur la période du 1er </a:t>
            </a:r>
            <a:r>
              <a:rPr lang="fr-FR" sz="1000" dirty="0">
                <a:latin typeface="Calibri"/>
              </a:rPr>
              <a:t>juillet</a:t>
            </a:r>
            <a:r>
              <a:rPr lang="fr-FR" sz="1000" i="0" u="none" strike="noStrike" baseline="0" dirty="0">
                <a:latin typeface="Calibri"/>
              </a:rPr>
              <a:t> au 30 septembre 2025 par rapport à la même période en 2024</a:t>
            </a:r>
          </a:p>
          <a:p>
            <a:r>
              <a:rPr lang="fr-FR" sz="1000" i="0" u="none" strike="noStrike" baseline="0" dirty="0">
                <a:latin typeface="Calibri"/>
              </a:rPr>
              <a:t>Périmètre : France y compris les DROM hors </a:t>
            </a:r>
            <a:r>
              <a:rPr lang="fr-FR" sz="1000" dirty="0">
                <a:latin typeface="Calibri"/>
              </a:rPr>
              <a:t>Haut-Rhin, Bas-Rhin</a:t>
            </a:r>
            <a:r>
              <a:rPr lang="fr-FR" sz="1000" i="0" u="none" strike="noStrike" baseline="0" dirty="0">
                <a:latin typeface="Calibri"/>
              </a:rPr>
              <a:t>, Moselle,</a:t>
            </a:r>
          </a:p>
          <a:p>
            <a:r>
              <a:rPr lang="fr-FR" sz="1000" i="0" u="none" strike="noStrike" baseline="0" dirty="0">
                <a:latin typeface="Calibri"/>
              </a:rPr>
              <a:t>Sources : Infogreffe et Greffes des tribunaux de commerce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09374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724E2-44CE-F73A-0E10-7FC4DB12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07A6BB0-01C4-3993-A86F-5A46C92D3984}"/>
              </a:ext>
            </a:extLst>
          </p:cNvPr>
          <p:cNvSpPr txBox="1"/>
          <p:nvPr/>
        </p:nvSpPr>
        <p:spPr>
          <a:xfrm>
            <a:off x="2176505" y="2136338"/>
            <a:ext cx="7838989" cy="2585323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Inscriptions de privilèges de la Sécurité Sociale </a:t>
            </a:r>
          </a:p>
        </p:txBody>
      </p:sp>
    </p:spTree>
    <p:extLst>
      <p:ext uri="{BB962C8B-B14F-4D97-AF65-F5344CB8AC3E}">
        <p14:creationId xmlns:p14="http://schemas.microsoft.com/office/powerpoint/2010/main" val="2648201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9E61-6A55-8E67-4B18-E1EC198F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7A676767-1E72-B2DF-6F28-684429A90C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302" y="187604"/>
            <a:ext cx="1240876" cy="49241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D6BDCB4-C20B-9FE6-EF64-84F000632826}"/>
              </a:ext>
            </a:extLst>
          </p:cNvPr>
          <p:cNvSpPr txBox="1"/>
          <p:nvPr/>
        </p:nvSpPr>
        <p:spPr>
          <a:xfrm>
            <a:off x="0" y="98099"/>
            <a:ext cx="10840856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fr-FR" sz="2000" b="1" dirty="0">
                <a:cs typeface="Arial" panose="020B0604020202020204" pitchFamily="34" charset="0"/>
              </a:rPr>
              <a:t>Nombre et montant moyen d’ une inscription de privilèges de sécurité sociale sur la période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7BE10D4-01AD-3269-F64A-8ECB73199DDD}"/>
              </a:ext>
            </a:extLst>
          </p:cNvPr>
          <p:cNvSpPr/>
          <p:nvPr/>
        </p:nvSpPr>
        <p:spPr>
          <a:xfrm>
            <a:off x="10338083" y="2494081"/>
            <a:ext cx="1260000" cy="1260000"/>
          </a:xfrm>
          <a:prstGeom prst="ellipse">
            <a:avLst/>
          </a:prstGeom>
          <a:solidFill>
            <a:srgbClr val="1C23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MONTANT </a:t>
            </a:r>
          </a:p>
          <a:p>
            <a:pPr lvl="0" algn="ctr">
              <a:defRPr/>
            </a:pP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 T3 2024 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99AFD08-B750-46BE-FA7B-BF3C61121137}"/>
              </a:ext>
            </a:extLst>
          </p:cNvPr>
          <p:cNvSpPr/>
          <p:nvPr/>
        </p:nvSpPr>
        <p:spPr>
          <a:xfrm>
            <a:off x="4353747" y="2494081"/>
            <a:ext cx="1339130" cy="1260000"/>
          </a:xfrm>
          <a:prstGeom prst="ellipse">
            <a:avLst/>
          </a:prstGeom>
          <a:solidFill>
            <a:srgbClr val="1C236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NOMBRE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b="1" kern="0" dirty="0">
                <a:solidFill>
                  <a:prstClr val="white"/>
                </a:solidFill>
                <a:latin typeface="Calibri" panose="020F0502020204030204"/>
              </a:rPr>
              <a:t>INSCRIPTIONS</a:t>
            </a:r>
            <a:endParaRPr kumimoji="0" lang="fr-FR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 T3 2024 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94C3C37-C7BC-B857-EEE4-F7EB4D4D5B65}"/>
              </a:ext>
            </a:extLst>
          </p:cNvPr>
          <p:cNvSpPr/>
          <p:nvPr/>
        </p:nvSpPr>
        <p:spPr>
          <a:xfrm>
            <a:off x="641157" y="2056148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Calibri" panose="020B0004020202020204" pitchFamily="34" charset="0"/>
              </a:rPr>
              <a:t>A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7AA1DFC-FF71-8E13-E019-072066FDACE3}"/>
              </a:ext>
            </a:extLst>
          </p:cNvPr>
          <p:cNvSpPr/>
          <p:nvPr/>
        </p:nvSpPr>
        <p:spPr>
          <a:xfrm>
            <a:off x="6629430" y="2056148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MONTANT MOYEN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white"/>
                </a:solidFill>
                <a:latin typeface="Calibri" panose="020B0004020202020204" pitchFamily="34" charset="0"/>
              </a:rPr>
              <a:t>PAR INSCRIPTION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0672E3B-FDB3-1FFB-9C3C-E4FA9D07EE32}"/>
              </a:ext>
            </a:extLst>
          </p:cNvPr>
          <p:cNvSpPr/>
          <p:nvPr/>
        </p:nvSpPr>
        <p:spPr>
          <a:xfrm>
            <a:off x="641157" y="3542514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prstClr val="white"/>
                </a:solidFill>
                <a:latin typeface="Calibri" panose="020B0004020202020204" pitchFamily="34" charset="0"/>
              </a:rPr>
              <a:t>B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DB33D25-2AF2-148D-5C69-A70773D365D9}"/>
              </a:ext>
            </a:extLst>
          </p:cNvPr>
          <p:cNvSpPr/>
          <p:nvPr/>
        </p:nvSpPr>
        <p:spPr>
          <a:xfrm>
            <a:off x="6629430" y="3542514"/>
            <a:ext cx="3452178" cy="87586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MONTANT MOYEN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white"/>
                </a:solidFill>
                <a:latin typeface="Calibri" panose="020B0004020202020204" pitchFamily="34" charset="0"/>
              </a:rPr>
              <a:t>PAR INSCRIPTION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3E3048-4783-72EF-CCAD-8A0182EFFE3A}"/>
              </a:ext>
            </a:extLst>
          </p:cNvPr>
          <p:cNvSpPr txBox="1"/>
          <p:nvPr/>
        </p:nvSpPr>
        <p:spPr>
          <a:xfrm>
            <a:off x="657239" y="2066961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 2025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C5B33D-7D91-D32A-5AB6-4BC1FC496719}"/>
              </a:ext>
            </a:extLst>
          </p:cNvPr>
          <p:cNvSpPr txBox="1"/>
          <p:nvPr/>
        </p:nvSpPr>
        <p:spPr>
          <a:xfrm>
            <a:off x="657239" y="3562507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2024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F6F7FE1-74D8-0542-2E36-F72838AC3FAF}"/>
              </a:ext>
            </a:extLst>
          </p:cNvPr>
          <p:cNvSpPr txBox="1"/>
          <p:nvPr/>
        </p:nvSpPr>
        <p:spPr>
          <a:xfrm>
            <a:off x="6688285" y="2123784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2025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1D3F02D-ABD4-8325-4345-28CC98B4E83E}"/>
              </a:ext>
            </a:extLst>
          </p:cNvPr>
          <p:cNvSpPr txBox="1"/>
          <p:nvPr/>
        </p:nvSpPr>
        <p:spPr>
          <a:xfrm>
            <a:off x="6624963" y="3635851"/>
            <a:ext cx="8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T3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Calibri" panose="020B0004020202020204" pitchFamily="34" charset="0"/>
                <a:cs typeface="Arial" panose="020B0604020202020204" pitchFamily="34" charset="0"/>
              </a:rPr>
              <a:t>2024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Flèche : haut 19">
            <a:extLst>
              <a:ext uri="{FF2B5EF4-FFF2-40B4-BE49-F238E27FC236}">
                <a16:creationId xmlns:a16="http://schemas.microsoft.com/office/drawing/2014/main" id="{297DF4FA-ED16-6D5A-3A25-31C5C5073BDF}"/>
              </a:ext>
            </a:extLst>
          </p:cNvPr>
          <p:cNvSpPr/>
          <p:nvPr/>
        </p:nvSpPr>
        <p:spPr>
          <a:xfrm>
            <a:off x="2110392" y="2980690"/>
            <a:ext cx="513708" cy="356656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haut 22">
            <a:extLst>
              <a:ext uri="{FF2B5EF4-FFF2-40B4-BE49-F238E27FC236}">
                <a16:creationId xmlns:a16="http://schemas.microsoft.com/office/drawing/2014/main" id="{AE9F4CA4-1BBF-BE61-9338-01D204976496}"/>
              </a:ext>
            </a:extLst>
          </p:cNvPr>
          <p:cNvSpPr/>
          <p:nvPr/>
        </p:nvSpPr>
        <p:spPr>
          <a:xfrm>
            <a:off x="8102655" y="3006056"/>
            <a:ext cx="513708" cy="356656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F4C89F1-9815-E28A-9E5D-1710A1D60B08}"/>
              </a:ext>
            </a:extLst>
          </p:cNvPr>
          <p:cNvSpPr txBox="1"/>
          <p:nvPr/>
        </p:nvSpPr>
        <p:spPr>
          <a:xfrm>
            <a:off x="302200" y="5946276"/>
            <a:ext cx="4302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latin typeface="Calibri"/>
              </a:rPr>
              <a:t>Données </a:t>
            </a:r>
            <a:r>
              <a:rPr lang="fr-FR" sz="1000" i="0" u="none" strike="noStrike" baseline="0" dirty="0">
                <a:latin typeface="Calibri"/>
              </a:rPr>
              <a:t>sur la période du 1er </a:t>
            </a:r>
            <a:r>
              <a:rPr lang="fr-FR" sz="1000" dirty="0">
                <a:latin typeface="Calibri"/>
              </a:rPr>
              <a:t>juillet</a:t>
            </a:r>
            <a:r>
              <a:rPr lang="fr-FR" sz="1000" i="0" u="none" strike="noStrike" baseline="0" dirty="0">
                <a:latin typeface="Calibri"/>
              </a:rPr>
              <a:t> au 30 septembre 2025 par rapport à la même période en 2024</a:t>
            </a:r>
          </a:p>
          <a:p>
            <a:r>
              <a:rPr lang="fr-FR" sz="1000" i="0" u="none" strike="noStrike" baseline="0" dirty="0">
                <a:latin typeface="Calibri"/>
              </a:rPr>
              <a:t>Périmètre : France y compris les DROM hors </a:t>
            </a:r>
            <a:r>
              <a:rPr lang="fr-FR" sz="1000" dirty="0">
                <a:latin typeface="Calibri"/>
              </a:rPr>
              <a:t>Haut-Rhin, Bas-Rhin</a:t>
            </a:r>
            <a:r>
              <a:rPr lang="fr-FR" sz="1000" i="0" u="none" strike="noStrike" baseline="0" dirty="0">
                <a:latin typeface="Calibri"/>
              </a:rPr>
              <a:t>, Moselle,</a:t>
            </a:r>
          </a:p>
          <a:p>
            <a:r>
              <a:rPr lang="fr-FR" sz="1000" i="0" u="none" strike="noStrike" baseline="0" dirty="0">
                <a:latin typeface="Calibri"/>
              </a:rPr>
              <a:t>Sources : Infogreffe et Greffes des tribunaux de commerce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880827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4E310-8FAB-7A40-37CE-2CC3C937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FCA938B-852C-63A7-9642-D151B600549C}"/>
              </a:ext>
            </a:extLst>
          </p:cNvPr>
          <p:cNvSpPr txBox="1"/>
          <p:nvPr/>
        </p:nvSpPr>
        <p:spPr>
          <a:xfrm>
            <a:off x="2658635" y="2967335"/>
            <a:ext cx="6874729" cy="92333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Dépôts RBE</a:t>
            </a:r>
            <a:endParaRPr kumimoji="0" lang="fr-FR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4939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077B-D7A4-C263-5216-3DD4CAFA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0997885-5F2D-5AF6-9477-0D4B5792E782}"/>
              </a:ext>
            </a:extLst>
          </p:cNvPr>
          <p:cNvSpPr txBox="1"/>
          <p:nvPr/>
        </p:nvSpPr>
        <p:spPr>
          <a:xfrm>
            <a:off x="201530" y="230190"/>
            <a:ext cx="117428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000" b="1" dirty="0"/>
              <a:t>Répartition des dépôts RBE par catégorie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fr-FR" sz="20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889C13-E033-4AD4-104E-5EAD7420CD42}"/>
              </a:ext>
            </a:extLst>
          </p:cNvPr>
          <p:cNvSpPr txBox="1"/>
          <p:nvPr/>
        </p:nvSpPr>
        <p:spPr>
          <a:xfrm>
            <a:off x="247248" y="6122660"/>
            <a:ext cx="56753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C91BBDF-FA4C-3429-6372-FFEDB8E5B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877134"/>
              </p:ext>
            </p:extLst>
          </p:nvPr>
        </p:nvGraphicFramePr>
        <p:xfrm>
          <a:off x="485799" y="2624720"/>
          <a:ext cx="7503112" cy="1425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7037">
                  <a:extLst>
                    <a:ext uri="{9D8B030D-6E8A-4147-A177-3AD203B41FA5}">
                      <a16:colId xmlns:a16="http://schemas.microsoft.com/office/drawing/2014/main" val="18082664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092960987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413729841"/>
                    </a:ext>
                  </a:extLst>
                </a:gridCol>
              </a:tblGrid>
              <a:tr h="33087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cs typeface="Arial"/>
                        </a:rPr>
                        <a:t>Nombre de dépôts par catégorie T3 2025</a:t>
                      </a:r>
                      <a:endParaRPr lang="fr-FR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6350" marT="6350" marB="0"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Nombre T3 2025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6350" marT="6350" marB="0"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Évolution (%) </a:t>
                      </a:r>
                    </a:p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T3 2025 vs T3 2024</a:t>
                      </a:r>
                    </a:p>
                  </a:txBody>
                  <a:tcPr marL="6350" marR="6350" marT="6350" marB="0"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41485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fr-F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DEPOT INITIAL</a:t>
                      </a:r>
                      <a:endParaRPr lang="fr-FR" sz="12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8445309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RECTIFICATIF</a:t>
                      </a: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67476156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REGULARISATION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1191730"/>
                  </a:ext>
                </a:extLst>
              </a:tr>
            </a:tbl>
          </a:graphicData>
        </a:graphic>
      </p:graphicFrame>
      <p:graphicFrame>
        <p:nvGraphicFramePr>
          <p:cNvPr id="2" name="Chart 41">
            <a:extLst>
              <a:ext uri="{FF2B5EF4-FFF2-40B4-BE49-F238E27FC236}">
                <a16:creationId xmlns:a16="http://schemas.microsoft.com/office/drawing/2014/main" id="{19EEB6DF-2FE1-10E9-B5F7-549C9344C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093508"/>
              </p:ext>
            </p:extLst>
          </p:nvPr>
        </p:nvGraphicFramePr>
        <p:xfrm>
          <a:off x="7905750" y="91440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10">
            <a:extLst>
              <a:ext uri="{FF2B5EF4-FFF2-40B4-BE49-F238E27FC236}">
                <a16:creationId xmlns:a16="http://schemas.microsoft.com/office/drawing/2014/main" id="{8800215F-711D-1C36-18BF-A7BEC3743A90}"/>
              </a:ext>
            </a:extLst>
          </p:cNvPr>
          <p:cNvSpPr txBox="1"/>
          <p:nvPr/>
        </p:nvSpPr>
        <p:spPr>
          <a:xfrm>
            <a:off x="8976802" y="337526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DBEFCAF-4183-E37D-FD37-AAB1D8DE26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42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B27C-2FF0-01E4-3B45-FD47BBD3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3E4CC3A-02DD-E79E-43E2-21856F3E3682}"/>
              </a:ext>
            </a:extLst>
          </p:cNvPr>
          <p:cNvSpPr txBox="1"/>
          <p:nvPr/>
        </p:nvSpPr>
        <p:spPr>
          <a:xfrm>
            <a:off x="201530" y="230190"/>
            <a:ext cx="117428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000" b="1" dirty="0"/>
              <a:t>Répartition des dépôts selon la forme juridique du déposant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</a:t>
            </a:r>
            <a:endParaRPr lang="fr-FR" sz="20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6E251E-51A4-3840-D0F8-3CF401DFA3EB}"/>
              </a:ext>
            </a:extLst>
          </p:cNvPr>
          <p:cNvSpPr txBox="1"/>
          <p:nvPr/>
        </p:nvSpPr>
        <p:spPr>
          <a:xfrm>
            <a:off x="247248" y="6122660"/>
            <a:ext cx="56753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3DB825A9-C942-40DA-04D4-F6F7F344B121}"/>
              </a:ext>
            </a:extLst>
          </p:cNvPr>
          <p:cNvGraphicFramePr>
            <a:graphicFrameLocks noGrp="1"/>
          </p:cNvGraphicFramePr>
          <p:nvPr/>
        </p:nvGraphicFramePr>
        <p:xfrm>
          <a:off x="485799" y="2624720"/>
          <a:ext cx="7503112" cy="175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7037">
                  <a:extLst>
                    <a:ext uri="{9D8B030D-6E8A-4147-A177-3AD203B41FA5}">
                      <a16:colId xmlns:a16="http://schemas.microsoft.com/office/drawing/2014/main" val="18082664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092960987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413729841"/>
                    </a:ext>
                  </a:extLst>
                </a:gridCol>
              </a:tblGrid>
              <a:tr h="33087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cs typeface="Arial"/>
                        </a:rPr>
                        <a:t>Nombre de dépôts par catégorie T3 2025</a:t>
                      </a:r>
                      <a:endParaRPr lang="fr-FR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6350" marT="6350" marB="0"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Nombre T3 2025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76200" marR="6350" marT="6350" marB="0"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Évolution (%) </a:t>
                      </a:r>
                    </a:p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T3 2025 vs T3 2024</a:t>
                      </a:r>
                    </a:p>
                  </a:txBody>
                  <a:tcPr marL="6350" marR="6350" marT="6350" marB="0"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41485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par actions simplifiée​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8445309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à responsabilité limitée​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67476156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Société civile immobilière​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1191730"/>
                  </a:ext>
                </a:extLst>
              </a:tr>
              <a:tr h="3308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u="none" strike="noStrike" dirty="0">
                          <a:effectLst/>
                        </a:rPr>
                        <a:t>Autres formes juridiques​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7620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endParaRPr sz="1200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7012077"/>
                  </a:ext>
                </a:extLst>
              </a:tr>
            </a:tbl>
          </a:graphicData>
        </a:graphic>
      </p:graphicFrame>
      <p:graphicFrame>
        <p:nvGraphicFramePr>
          <p:cNvPr id="2" name="Chart 41">
            <a:extLst>
              <a:ext uri="{FF2B5EF4-FFF2-40B4-BE49-F238E27FC236}">
                <a16:creationId xmlns:a16="http://schemas.microsoft.com/office/drawing/2014/main" id="{037B77FA-7CBC-9A1D-F3C1-2C363338C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701514"/>
              </p:ext>
            </p:extLst>
          </p:nvPr>
        </p:nvGraphicFramePr>
        <p:xfrm>
          <a:off x="7905750" y="91440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10">
            <a:extLst>
              <a:ext uri="{FF2B5EF4-FFF2-40B4-BE49-F238E27FC236}">
                <a16:creationId xmlns:a16="http://schemas.microsoft.com/office/drawing/2014/main" id="{671EA186-2921-EECF-44AC-A179482F547F}"/>
              </a:ext>
            </a:extLst>
          </p:cNvPr>
          <p:cNvSpPr txBox="1"/>
          <p:nvPr/>
        </p:nvSpPr>
        <p:spPr>
          <a:xfrm>
            <a:off x="8976802" y="337526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DB56E5F-4DEB-5AEC-0F77-93B5FB60E2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77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E45F-1983-0820-00D0-E0F01DA2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8A74101-62A0-E6AE-DF75-13E798D60150}"/>
              </a:ext>
            </a:extLst>
          </p:cNvPr>
          <p:cNvSpPr txBox="1"/>
          <p:nvPr/>
        </p:nvSpPr>
        <p:spPr>
          <a:xfrm>
            <a:off x="2333636" y="2623093"/>
            <a:ext cx="7838989" cy="1754326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kumimoji="0" lang="fr-FR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cs typeface="Arial"/>
              </a:rPr>
              <a:t>Signalements des divergences</a:t>
            </a:r>
            <a:r>
              <a:rPr lang="fr-FR" sz="5400" b="1">
                <a:solidFill>
                  <a:schemeClr val="bg1"/>
                </a:solidFill>
                <a:latin typeface="Aptos"/>
                <a:cs typeface="Arial"/>
              </a:rPr>
              <a:t> BE</a:t>
            </a:r>
            <a:endParaRPr kumimoji="0" lang="fr-FR" sz="5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563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BB6C-5626-57EE-5989-92E3357E0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434811"/>
              </p:ext>
            </p:extLst>
          </p:nvPr>
        </p:nvGraphicFramePr>
        <p:xfrm>
          <a:off x="646306" y="917665"/>
          <a:ext cx="10694505" cy="5022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9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878">
                  <a:extLst>
                    <a:ext uri="{9D8B030D-6E8A-4147-A177-3AD203B41FA5}">
                      <a16:colId xmlns:a16="http://schemas.microsoft.com/office/drawing/2014/main" val="1799545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+mn-lt"/>
                        </a:rPr>
                        <a:t>Nature de </a:t>
                      </a:r>
                      <a:r>
                        <a:rPr lang="fr-FR" sz="1400" dirty="0">
                          <a:latin typeface="+mn-lt"/>
                        </a:rPr>
                        <a:t>la demande</a:t>
                      </a:r>
                      <a:endParaRPr sz="1400" dirty="0">
                        <a:latin typeface="+mn-lt"/>
                      </a:endParaRP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+mn-lt"/>
                        </a:rPr>
                        <a:t>T3 2025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Évolution (%) </a:t>
                      </a:r>
                    </a:p>
                    <a:p>
                      <a:pPr algn="ctr"/>
                      <a:r>
                        <a:rPr lang="fr-FR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T3 2025 vs T3 2024</a:t>
                      </a:r>
                    </a:p>
                  </a:txBody>
                  <a:tcPr anchor="ctr"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1-Divergence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au nom et/</a:t>
                      </a:r>
                      <a:r>
                        <a:rPr sz="1200" dirty="0" err="1">
                          <a:latin typeface="+mn-lt"/>
                        </a:rPr>
                        <a:t>ou</a:t>
                      </a:r>
                      <a:r>
                        <a:rPr sz="1200" dirty="0">
                          <a:latin typeface="+mn-lt"/>
                        </a:rPr>
                        <a:t> au(x) </a:t>
                      </a:r>
                      <a:r>
                        <a:rPr sz="1200" dirty="0" err="1">
                          <a:latin typeface="+mn-lt"/>
                        </a:rPr>
                        <a:t>prénom</a:t>
                      </a:r>
                      <a:r>
                        <a:rPr sz="1200" dirty="0">
                          <a:latin typeface="+mn-lt"/>
                        </a:rPr>
                        <a:t>(s)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2-Divergence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au nom </a:t>
                      </a:r>
                      <a:r>
                        <a:rPr sz="1200" dirty="0" err="1">
                          <a:latin typeface="+mn-lt"/>
                        </a:rPr>
                        <a:t>d'usage</a:t>
                      </a:r>
                      <a:r>
                        <a:rPr sz="1200" dirty="0">
                          <a:latin typeface="+mn-lt"/>
                        </a:rPr>
                        <a:t>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4-Divergence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à la </a:t>
                      </a:r>
                      <a:r>
                        <a:rPr sz="1200" dirty="0" err="1">
                          <a:latin typeface="+mn-lt"/>
                        </a:rPr>
                        <a:t>nationalité</a:t>
                      </a:r>
                      <a:r>
                        <a:rPr sz="1200" dirty="0">
                          <a:latin typeface="+mn-lt"/>
                        </a:rPr>
                        <a:t>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5-Divergence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au jour de naissance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6-Divergence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au </a:t>
                      </a:r>
                      <a:r>
                        <a:rPr sz="1200" dirty="0" err="1">
                          <a:latin typeface="+mn-lt"/>
                        </a:rPr>
                        <a:t>mois</a:t>
                      </a:r>
                      <a:r>
                        <a:rPr sz="1200" dirty="0">
                          <a:latin typeface="+mn-lt"/>
                        </a:rPr>
                        <a:t> et/</a:t>
                      </a:r>
                      <a:r>
                        <a:rPr sz="1200" dirty="0" err="1">
                          <a:latin typeface="+mn-lt"/>
                        </a:rPr>
                        <a:t>ou</a:t>
                      </a:r>
                      <a:r>
                        <a:rPr sz="1200" dirty="0">
                          <a:latin typeface="+mn-lt"/>
                        </a:rPr>
                        <a:t> à </a:t>
                      </a:r>
                      <a:r>
                        <a:rPr sz="1200" dirty="0" err="1">
                          <a:latin typeface="+mn-lt"/>
                        </a:rPr>
                        <a:t>l'année</a:t>
                      </a:r>
                      <a:r>
                        <a:rPr sz="1200" dirty="0">
                          <a:latin typeface="+mn-lt"/>
                        </a:rPr>
                        <a:t> de naissance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7-Divergence signalée relativement au lieu de naissance du bénéficiaire effectif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8-Divergence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à </a:t>
                      </a:r>
                      <a:r>
                        <a:rPr sz="1200" dirty="0" err="1">
                          <a:latin typeface="+mn-lt"/>
                        </a:rPr>
                        <a:t>l'adresse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personnelle</a:t>
                      </a:r>
                      <a:r>
                        <a:rPr sz="1200" dirty="0">
                          <a:latin typeface="+mn-lt"/>
                        </a:rPr>
                        <a:t> (hors pays de </a:t>
                      </a:r>
                      <a:r>
                        <a:rPr sz="1200" dirty="0" err="1">
                          <a:latin typeface="+mn-lt"/>
                        </a:rPr>
                        <a:t>résidence</a:t>
                      </a:r>
                      <a:r>
                        <a:rPr sz="1200" dirty="0">
                          <a:latin typeface="+mn-lt"/>
                        </a:rPr>
                        <a:t>)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9-Divergence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au pays de </a:t>
                      </a:r>
                      <a:r>
                        <a:rPr sz="1200" dirty="0" err="1">
                          <a:latin typeface="+mn-lt"/>
                        </a:rPr>
                        <a:t>résidence</a:t>
                      </a:r>
                      <a:r>
                        <a:rPr sz="1200" dirty="0">
                          <a:latin typeface="+mn-lt"/>
                        </a:rPr>
                        <a:t> du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10-Divergence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à la nature et/</a:t>
                      </a:r>
                      <a:r>
                        <a:rPr sz="1200" dirty="0" err="1">
                          <a:latin typeface="+mn-lt"/>
                        </a:rPr>
                        <a:t>ou</a:t>
                      </a:r>
                      <a:r>
                        <a:rPr sz="1200" dirty="0">
                          <a:latin typeface="+mn-lt"/>
                        </a:rPr>
                        <a:t> à </a:t>
                      </a:r>
                      <a:r>
                        <a:rPr sz="1200" dirty="0" err="1">
                          <a:latin typeface="+mn-lt"/>
                        </a:rPr>
                        <a:t>l'étendue</a:t>
                      </a:r>
                      <a:r>
                        <a:rPr sz="1200" dirty="0">
                          <a:latin typeface="+mn-lt"/>
                        </a:rPr>
                        <a:t> des </a:t>
                      </a:r>
                      <a:r>
                        <a:rPr sz="1200" dirty="0" err="1">
                          <a:latin typeface="+mn-lt"/>
                        </a:rPr>
                        <a:t>intérêts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effectifs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détenus</a:t>
                      </a:r>
                      <a:r>
                        <a:rPr sz="1200" dirty="0">
                          <a:latin typeface="+mn-lt"/>
                        </a:rPr>
                        <a:t> par le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4114006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11-Divergence </a:t>
                      </a:r>
                      <a:r>
                        <a:rPr sz="1200" dirty="0" err="1">
                          <a:latin typeface="+mn-lt"/>
                        </a:rPr>
                        <a:t>signalée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relativement</a:t>
                      </a:r>
                      <a:r>
                        <a:rPr sz="1200" dirty="0">
                          <a:latin typeface="+mn-lt"/>
                        </a:rPr>
                        <a:t> à la date à </a:t>
                      </a:r>
                      <a:r>
                        <a:rPr sz="1200" dirty="0" err="1">
                          <a:latin typeface="+mn-lt"/>
                        </a:rPr>
                        <a:t>laquelle</a:t>
                      </a:r>
                      <a:r>
                        <a:rPr sz="1200" dirty="0">
                          <a:latin typeface="+mn-lt"/>
                        </a:rPr>
                        <a:t> la </a:t>
                      </a:r>
                      <a:r>
                        <a:rPr sz="1200" dirty="0" err="1">
                          <a:latin typeface="+mn-lt"/>
                        </a:rPr>
                        <a:t>personne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est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devenue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bénéficiaire</a:t>
                      </a:r>
                      <a:r>
                        <a:rPr sz="1200" dirty="0">
                          <a:latin typeface="+mn-lt"/>
                        </a:rPr>
                        <a:t> </a:t>
                      </a:r>
                      <a:r>
                        <a:rPr sz="1200" dirty="0" err="1">
                          <a:latin typeface="+mn-lt"/>
                        </a:rPr>
                        <a:t>effectif</a:t>
                      </a:r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8594195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12-divergence signalée relativement à la déclaration indue d'un bénéficiaire effectif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9116441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13-Divergence signalée relativement à l'absence d'enregistrement au greffe des informations concernant un ou plusieurs bénéficiaires effectifs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7314059"/>
                  </a:ext>
                </a:extLst>
              </a:tr>
              <a:tr h="306979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+mn-lt"/>
                        </a:rPr>
                        <a:t>Total </a:t>
                      </a:r>
                      <a:r>
                        <a:rPr sz="1400" b="1" dirty="0" err="1">
                          <a:latin typeface="+mn-lt"/>
                        </a:rPr>
                        <a:t>général</a:t>
                      </a:r>
                      <a:endParaRPr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A483A23C-21F5-C55E-E826-0D05577107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A9031D6-549C-90B4-1044-A1F6F9F1EE21}"/>
              </a:ext>
            </a:extLst>
          </p:cNvPr>
          <p:cNvSpPr txBox="1"/>
          <p:nvPr/>
        </p:nvSpPr>
        <p:spPr>
          <a:xfrm>
            <a:off x="230751" y="197964"/>
            <a:ext cx="8157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Nature des divergences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8B7F1A-05C0-36BF-010F-21AE0F08539F}"/>
              </a:ext>
            </a:extLst>
          </p:cNvPr>
          <p:cNvSpPr txBox="1"/>
          <p:nvPr/>
        </p:nvSpPr>
        <p:spPr>
          <a:xfrm>
            <a:off x="109597" y="6223557"/>
            <a:ext cx="56753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11200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7D72-D6C3-7FA3-A339-2B9A8C52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537B6FB-AF15-1870-2050-A739A13D6189}"/>
              </a:ext>
            </a:extLst>
          </p:cNvPr>
          <p:cNvSpPr txBox="1"/>
          <p:nvPr/>
        </p:nvSpPr>
        <p:spPr>
          <a:xfrm>
            <a:off x="2299757" y="2551837"/>
            <a:ext cx="7838989" cy="1754326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5400" b="1" dirty="0">
                <a:solidFill>
                  <a:schemeClr val="bg1"/>
                </a:solidFill>
                <a:latin typeface="Aptos"/>
                <a:cs typeface="Arial"/>
              </a:rPr>
              <a:t>Dépôts des comptes annuels</a:t>
            </a:r>
          </a:p>
        </p:txBody>
      </p:sp>
    </p:spTree>
    <p:extLst>
      <p:ext uri="{BB962C8B-B14F-4D97-AF65-F5344CB8AC3E}">
        <p14:creationId xmlns:p14="http://schemas.microsoft.com/office/powerpoint/2010/main" val="9740145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C988-823E-FAA3-FEC0-4709C31B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DFED4A1-D901-2FD1-6CD9-BFBC86B5E8CD}"/>
              </a:ext>
            </a:extLst>
          </p:cNvPr>
          <p:cNvSpPr txBox="1"/>
          <p:nvPr/>
        </p:nvSpPr>
        <p:spPr>
          <a:xfrm>
            <a:off x="199260" y="172537"/>
            <a:ext cx="9942100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000" b="1" dirty="0"/>
              <a:t>Répartition des dépôts de comptes annuels 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2025 </a:t>
            </a:r>
            <a:r>
              <a:rPr lang="fr-FR" sz="2000" b="1" dirty="0"/>
              <a:t>par région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893DAF-F098-AF25-4119-5E186C468D52}"/>
              </a:ext>
            </a:extLst>
          </p:cNvPr>
          <p:cNvSpPr txBox="1"/>
          <p:nvPr/>
        </p:nvSpPr>
        <p:spPr>
          <a:xfrm>
            <a:off x="408810" y="6131465"/>
            <a:ext cx="59553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11" name="ZoneTexte 9">
            <a:extLst>
              <a:ext uri="{FF2B5EF4-FFF2-40B4-BE49-F238E27FC236}">
                <a16:creationId xmlns:a16="http://schemas.microsoft.com/office/drawing/2014/main" id="{7960591B-FBE9-4DAA-E051-23C4589415FA}"/>
              </a:ext>
            </a:extLst>
          </p:cNvPr>
          <p:cNvSpPr txBox="1"/>
          <p:nvPr/>
        </p:nvSpPr>
        <p:spPr>
          <a:xfrm>
            <a:off x="8850896" y="2375342"/>
            <a:ext cx="2309602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600" b="1" dirty="0">
                <a:solidFill>
                  <a:srgbClr val="1C236B"/>
                </a:solidFill>
                <a:latin typeface="Aptos"/>
                <a:cs typeface="Arial"/>
              </a:rPr>
              <a:t>Nombre de dépôts des comptes annuels 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1C236B"/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EF1764-067A-4140-23E1-B2BF79C9670E}"/>
              </a:ext>
            </a:extLst>
          </p:cNvPr>
          <p:cNvSpPr/>
          <p:nvPr/>
        </p:nvSpPr>
        <p:spPr>
          <a:xfrm>
            <a:off x="9260799" y="3029433"/>
            <a:ext cx="1550867" cy="477114"/>
          </a:xfrm>
          <a:prstGeom prst="rect">
            <a:avLst/>
          </a:prstGeom>
          <a:solidFill>
            <a:srgbClr val="1C23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Y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93686"/>
              </p:ext>
            </p:extLst>
          </p:nvPr>
        </p:nvGraphicFramePr>
        <p:xfrm>
          <a:off x="1031502" y="716284"/>
          <a:ext cx="6552052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Régions</a:t>
                      </a:r>
                      <a:endParaRPr sz="1400" dirty="0">
                        <a:latin typeface="+mn-lt"/>
                      </a:endParaRPr>
                    </a:p>
                  </a:txBody>
                  <a:tcPr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Répartition</a:t>
                      </a:r>
                      <a:r>
                        <a:rPr sz="1400" dirty="0">
                          <a:latin typeface="+mn-lt"/>
                        </a:rPr>
                        <a:t> (</a:t>
                      </a:r>
                      <a:r>
                        <a:rPr sz="1400" dirty="0" err="1">
                          <a:latin typeface="+mn-lt"/>
                        </a:rPr>
                        <a:t>en</a:t>
                      </a:r>
                      <a:r>
                        <a:rPr sz="1400" dirty="0">
                          <a:latin typeface="+mn-lt"/>
                        </a:rPr>
                        <a:t> %)</a:t>
                      </a:r>
                    </a:p>
                  </a:txBody>
                  <a:tcPr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51D1DF55-6C95-5F71-6A8A-71200F031F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633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21F3-44B7-2AC7-A56D-8E449FA2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DF512A8-60A2-945A-B688-0E790DB54D65}"/>
              </a:ext>
            </a:extLst>
          </p:cNvPr>
          <p:cNvSpPr txBox="1"/>
          <p:nvPr/>
        </p:nvSpPr>
        <p:spPr>
          <a:xfrm>
            <a:off x="207835" y="426331"/>
            <a:ext cx="9613802" cy="4044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Répartition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évolution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dépôts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comptes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annuels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par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secteur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d’activité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fr-FR" sz="2000" b="1" dirty="0">
                <a:latin typeface="+mj-lt"/>
              </a:rPr>
              <a:t>au X</a:t>
            </a:r>
            <a:r>
              <a:rPr lang="fr-FR" sz="2000" b="1" baseline="30000" dirty="0">
                <a:latin typeface="+mj-lt"/>
              </a:rPr>
              <a:t>ème</a:t>
            </a:r>
            <a:r>
              <a:rPr lang="fr-FR" sz="2000" b="1" dirty="0">
                <a:latin typeface="+mj-lt"/>
              </a:rPr>
              <a:t> trimestre 2025</a:t>
            </a:r>
            <a:endParaRPr lang="en-US" sz="2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6E732E-9C1D-DE00-6C6C-5B44BB6E9836}"/>
              </a:ext>
            </a:extLst>
          </p:cNvPr>
          <p:cNvSpPr/>
          <p:nvPr/>
        </p:nvSpPr>
        <p:spPr>
          <a:xfrm>
            <a:off x="489097" y="4461119"/>
            <a:ext cx="82363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2F8A0E-8031-1DEB-3720-34EEE9426549}"/>
              </a:ext>
            </a:extLst>
          </p:cNvPr>
          <p:cNvSpPr txBox="1"/>
          <p:nvPr/>
        </p:nvSpPr>
        <p:spPr>
          <a:xfrm>
            <a:off x="308917" y="6021061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</a:t>
            </a:r>
            <a:r>
              <a:rPr lang="fr-FR" sz="1000" dirty="0"/>
              <a:t>et</a:t>
            </a:r>
            <a:r>
              <a:rPr lang="fr-FR" sz="1000" i="0" u="none" strike="noStrike" baseline="0" dirty="0"/>
              <a:t>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 </a:t>
            </a:r>
            <a:endParaRPr lang="fr-FR" sz="1000" dirty="0"/>
          </a:p>
        </p:txBody>
      </p:sp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15143"/>
              </p:ext>
            </p:extLst>
          </p:nvPr>
        </p:nvGraphicFramePr>
        <p:xfrm>
          <a:off x="-647832" y="1581455"/>
          <a:ext cx="6811951" cy="4341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53321"/>
              </p:ext>
            </p:extLst>
          </p:nvPr>
        </p:nvGraphicFramePr>
        <p:xfrm>
          <a:off x="4652750" y="2076145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B43AA511-D34C-E5DB-4841-F3355565858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ZoneTexte 10">
            <a:extLst>
              <a:ext uri="{FF2B5EF4-FFF2-40B4-BE49-F238E27FC236}">
                <a16:creationId xmlns:a16="http://schemas.microsoft.com/office/drawing/2014/main" id="{6DB49968-354D-F4F7-6815-0A4FA3C50D01}"/>
              </a:ext>
            </a:extLst>
          </p:cNvPr>
          <p:cNvSpPr txBox="1"/>
          <p:nvPr/>
        </p:nvSpPr>
        <p:spPr>
          <a:xfrm>
            <a:off x="1634637" y="3429000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632738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502D-0A47-4776-C73F-6BAC3EF1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8BC0DF6-38F0-21A6-EA8D-6DE4525F65ED}"/>
              </a:ext>
            </a:extLst>
          </p:cNvPr>
          <p:cNvSpPr txBox="1"/>
          <p:nvPr/>
        </p:nvSpPr>
        <p:spPr>
          <a:xfrm>
            <a:off x="308916" y="6021061"/>
            <a:ext cx="4948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</a:t>
            </a:r>
            <a:r>
              <a:rPr lang="fr-FR" sz="1000" dirty="0"/>
              <a:t>et</a:t>
            </a:r>
            <a:r>
              <a:rPr lang="fr-FR" sz="1000" i="0" u="none" strike="noStrike" baseline="0" dirty="0"/>
              <a:t>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 </a:t>
            </a:r>
            <a:endParaRPr lang="fr-FR" sz="1000" dirty="0"/>
          </a:p>
        </p:txBody>
      </p:sp>
      <p:graphicFrame>
        <p:nvGraphicFramePr>
          <p:cNvPr id="23" name="Char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19231"/>
              </p:ext>
            </p:extLst>
          </p:nvPr>
        </p:nvGraphicFramePr>
        <p:xfrm>
          <a:off x="-304799" y="1163320"/>
          <a:ext cx="6400799" cy="453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292596"/>
              </p:ext>
            </p:extLst>
          </p:nvPr>
        </p:nvGraphicFramePr>
        <p:xfrm>
          <a:off x="5266021" y="182880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6884132C-79DA-2305-D5AA-46CB230DF40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9B0FDE2-12DF-761A-3AB1-A482293693D1}"/>
              </a:ext>
            </a:extLst>
          </p:cNvPr>
          <p:cNvSpPr txBox="1"/>
          <p:nvPr/>
        </p:nvSpPr>
        <p:spPr>
          <a:xfrm>
            <a:off x="128204" y="174010"/>
            <a:ext cx="10275635" cy="64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/>
              <a:t>Répartition</a:t>
            </a:r>
            <a:r>
              <a:rPr lang="en-US" sz="2000" b="1" dirty="0"/>
              <a:t> et </a:t>
            </a:r>
            <a:r>
              <a:rPr lang="en-US" sz="2000" b="1" dirty="0" err="1"/>
              <a:t>évolution</a:t>
            </a:r>
            <a:r>
              <a:rPr lang="en-US" sz="2000" b="1" dirty="0"/>
              <a:t> des </a:t>
            </a:r>
            <a:r>
              <a:rPr lang="en-US" sz="2000" b="1" dirty="0" err="1"/>
              <a:t>dépôts</a:t>
            </a:r>
            <a:r>
              <a:rPr lang="en-US" sz="2000" b="1" dirty="0"/>
              <a:t> de </a:t>
            </a:r>
            <a:r>
              <a:rPr lang="en-US" sz="2000" b="1" dirty="0" err="1"/>
              <a:t>comptes</a:t>
            </a:r>
            <a:r>
              <a:rPr lang="en-US" sz="2000" b="1" dirty="0"/>
              <a:t> </a:t>
            </a:r>
            <a:r>
              <a:rPr lang="en-US" sz="2000" b="1" dirty="0" err="1"/>
              <a:t>annuels</a:t>
            </a:r>
            <a:r>
              <a:rPr lang="en-US" sz="2000" b="1" dirty="0"/>
              <a:t> par </a:t>
            </a:r>
            <a:r>
              <a:rPr lang="en-US" sz="2000" b="1" dirty="0" err="1"/>
              <a:t>forme</a:t>
            </a:r>
            <a:r>
              <a:rPr lang="en-US" sz="2000" b="1" dirty="0"/>
              <a:t> </a:t>
            </a:r>
            <a:r>
              <a:rPr lang="en-US" sz="2000" b="1" dirty="0" err="1"/>
              <a:t>juridique</a:t>
            </a:r>
            <a:r>
              <a:rPr lang="en-US" sz="2000" b="1" dirty="0"/>
              <a:t> </a:t>
            </a:r>
            <a:r>
              <a:rPr lang="fr-FR" sz="2000" b="1" dirty="0"/>
              <a:t>au X</a:t>
            </a:r>
            <a:r>
              <a:rPr lang="fr-FR" sz="2000" b="1" baseline="30000" dirty="0"/>
              <a:t>ème</a:t>
            </a:r>
            <a:r>
              <a:rPr lang="fr-FR" sz="2000" b="1" dirty="0"/>
              <a:t> trimestre 2025</a:t>
            </a:r>
            <a:endParaRPr lang="en-US" sz="2000" b="1" dirty="0"/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9D684E17-95BD-0E74-D815-D1C193FDE8EB}"/>
              </a:ext>
            </a:extLst>
          </p:cNvPr>
          <p:cNvSpPr txBox="1"/>
          <p:nvPr/>
        </p:nvSpPr>
        <p:spPr>
          <a:xfrm>
            <a:off x="1772092" y="333443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852794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B33F-902E-1BA7-EC5D-B1FE6DED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DFA9368-F6B1-9E28-B614-D0B534A474D2}"/>
              </a:ext>
            </a:extLst>
          </p:cNvPr>
          <p:cNvSpPr txBox="1"/>
          <p:nvPr/>
        </p:nvSpPr>
        <p:spPr>
          <a:xfrm>
            <a:off x="147329" y="-198656"/>
            <a:ext cx="8829675" cy="7406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000" b="1" dirty="0">
                <a:latin typeface="Aptos "/>
                <a:ea typeface="+mj-ea"/>
                <a:cs typeface="+mj-cs"/>
              </a:rPr>
              <a:t>Evolution des dépôts des comptes annuels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42589E-1CB7-615F-8DC8-60BCE013F2B7}"/>
              </a:ext>
            </a:extLst>
          </p:cNvPr>
          <p:cNvSpPr txBox="1"/>
          <p:nvPr/>
        </p:nvSpPr>
        <p:spPr>
          <a:xfrm>
            <a:off x="308917" y="6021061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</a:t>
            </a:r>
            <a:r>
              <a:rPr lang="fr-FR" sz="1000" dirty="0"/>
              <a:t>et</a:t>
            </a:r>
            <a:r>
              <a:rPr lang="fr-FR" sz="1000" i="0" u="none" strike="noStrike" baseline="0" dirty="0"/>
              <a:t>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 </a:t>
            </a:r>
            <a:endParaRPr lang="fr-FR" sz="100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623567"/>
              </p:ext>
            </p:extLst>
          </p:nvPr>
        </p:nvGraphicFramePr>
        <p:xfrm>
          <a:off x="2305570" y="914400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A70AB5D6-3A1C-4207-BDA8-198D9BCABA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2FF55D7-17D7-3F18-EEC8-89690A8136F6}"/>
              </a:ext>
            </a:extLst>
          </p:cNvPr>
          <p:cNvSpPr txBox="1"/>
          <p:nvPr/>
        </p:nvSpPr>
        <p:spPr>
          <a:xfrm>
            <a:off x="4048354" y="697793"/>
            <a:ext cx="613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+mj-lt"/>
              </a:rPr>
              <a:t>Évolution (en %)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TX 2025 vs TX 2024</a:t>
            </a:r>
          </a:p>
        </p:txBody>
      </p:sp>
    </p:spTree>
    <p:extLst>
      <p:ext uri="{BB962C8B-B14F-4D97-AF65-F5344CB8AC3E}">
        <p14:creationId xmlns:p14="http://schemas.microsoft.com/office/powerpoint/2010/main" val="846838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1A9D-5FD5-FC1F-345D-5A458B04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F783982-E9E1-FFEA-6F7E-D74EFDFCEEFE}"/>
              </a:ext>
            </a:extLst>
          </p:cNvPr>
          <p:cNvSpPr txBox="1"/>
          <p:nvPr/>
        </p:nvSpPr>
        <p:spPr>
          <a:xfrm>
            <a:off x="3986195" y="2967335"/>
            <a:ext cx="4219609" cy="92333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Prévention</a:t>
            </a:r>
          </a:p>
        </p:txBody>
      </p:sp>
    </p:spTree>
    <p:extLst>
      <p:ext uri="{BB962C8B-B14F-4D97-AF65-F5344CB8AC3E}">
        <p14:creationId xmlns:p14="http://schemas.microsoft.com/office/powerpoint/2010/main" val="953144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9552-7BB4-05F0-E428-6B3E94E1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4E385848-D8EF-6E95-3A89-993CF890FFAE}"/>
              </a:ext>
            </a:extLst>
          </p:cNvPr>
          <p:cNvSpPr txBox="1"/>
          <p:nvPr/>
        </p:nvSpPr>
        <p:spPr>
          <a:xfrm>
            <a:off x="290822" y="6141716"/>
            <a:ext cx="59553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11" name="ZoneTexte 9">
            <a:extLst>
              <a:ext uri="{FF2B5EF4-FFF2-40B4-BE49-F238E27FC236}">
                <a16:creationId xmlns:a16="http://schemas.microsoft.com/office/drawing/2014/main" id="{E7FAAB9B-358D-1309-6889-A9FC8EAC2320}"/>
              </a:ext>
            </a:extLst>
          </p:cNvPr>
          <p:cNvSpPr txBox="1"/>
          <p:nvPr/>
        </p:nvSpPr>
        <p:spPr>
          <a:xfrm>
            <a:off x="8778635" y="2363801"/>
            <a:ext cx="2515194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600" b="1" dirty="0">
                <a:solidFill>
                  <a:srgbClr val="1C236B"/>
                </a:solidFill>
                <a:latin typeface="Aptos"/>
                <a:cs typeface="Arial"/>
              </a:rPr>
              <a:t>Nombre </a:t>
            </a:r>
            <a:r>
              <a:rPr lang="fr-FR" sz="1600" b="1" dirty="0">
                <a:solidFill>
                  <a:srgbClr val="1C236B"/>
                </a:solidFill>
                <a:cs typeface="Arial"/>
              </a:rPr>
              <a:t>total d’entreprises détectées 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1C236B"/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0B1F4E-6FC5-D18A-FB35-08CEBE35E262}"/>
              </a:ext>
            </a:extLst>
          </p:cNvPr>
          <p:cNvSpPr/>
          <p:nvPr/>
        </p:nvSpPr>
        <p:spPr>
          <a:xfrm>
            <a:off x="9260799" y="3029433"/>
            <a:ext cx="1550867" cy="477114"/>
          </a:xfrm>
          <a:prstGeom prst="rect">
            <a:avLst/>
          </a:prstGeom>
          <a:solidFill>
            <a:srgbClr val="1C23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Y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37DF4E8-589B-CBC5-5310-137A755A4806}"/>
              </a:ext>
            </a:extLst>
          </p:cNvPr>
          <p:cNvGraphicFramePr>
            <a:graphicFrameLocks noGrp="1"/>
          </p:cNvGraphicFramePr>
          <p:nvPr/>
        </p:nvGraphicFramePr>
        <p:xfrm>
          <a:off x="1031502" y="716284"/>
          <a:ext cx="6552052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Régions</a:t>
                      </a:r>
                      <a:endParaRPr sz="1400" dirty="0">
                        <a:latin typeface="+mn-lt"/>
                      </a:endParaRPr>
                    </a:p>
                  </a:txBody>
                  <a:tcPr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Répartition</a:t>
                      </a:r>
                      <a:r>
                        <a:rPr sz="1400" dirty="0">
                          <a:latin typeface="+mn-lt"/>
                        </a:rPr>
                        <a:t> (</a:t>
                      </a:r>
                      <a:r>
                        <a:rPr sz="1400" dirty="0" err="1">
                          <a:latin typeface="+mn-lt"/>
                        </a:rPr>
                        <a:t>en</a:t>
                      </a:r>
                      <a:r>
                        <a:rPr sz="1400" dirty="0">
                          <a:latin typeface="+mn-lt"/>
                        </a:rPr>
                        <a:t> %)</a:t>
                      </a:r>
                    </a:p>
                  </a:txBody>
                  <a:tcPr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51792AAD-B091-FC79-6410-473797A83F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TextBox 34">
            <a:extLst>
              <a:ext uri="{FF2B5EF4-FFF2-40B4-BE49-F238E27FC236}">
                <a16:creationId xmlns:a16="http://schemas.microsoft.com/office/drawing/2014/main" id="{B19B1654-6189-EB8F-D618-A5FB95DFD5BC}"/>
              </a:ext>
            </a:extLst>
          </p:cNvPr>
          <p:cNvSpPr txBox="1"/>
          <p:nvPr/>
        </p:nvSpPr>
        <p:spPr>
          <a:xfrm>
            <a:off x="0" y="162285"/>
            <a:ext cx="10304206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/>
              <a:t>Répartition</a:t>
            </a:r>
            <a:r>
              <a:rPr lang="en-US" sz="2000" b="1" dirty="0"/>
              <a:t> des </a:t>
            </a:r>
            <a:r>
              <a:rPr lang="en-US" sz="2000" b="1" dirty="0" err="1"/>
              <a:t>entreprises</a:t>
            </a:r>
            <a:r>
              <a:rPr lang="en-US" sz="2000" b="1" dirty="0"/>
              <a:t> </a:t>
            </a:r>
            <a:r>
              <a:rPr lang="en-US" sz="2000" b="1" dirty="0" err="1"/>
              <a:t>détectées</a:t>
            </a:r>
            <a:r>
              <a:rPr lang="en-US" sz="2000" b="1" dirty="0"/>
              <a:t> par </a:t>
            </a:r>
            <a:r>
              <a:rPr lang="en-US" sz="2000" b="1" dirty="0" err="1"/>
              <a:t>région</a:t>
            </a:r>
            <a:r>
              <a:rPr lang="en-US" sz="2000" b="1" dirty="0"/>
              <a:t> </a:t>
            </a:r>
            <a:r>
              <a:rPr lang="fr-FR" sz="2000" b="1" dirty="0"/>
              <a:t>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de 2025 </a:t>
            </a:r>
            <a:r>
              <a:rPr lang="fr-FR" sz="2000" b="1" dirty="0"/>
              <a:t>par région</a:t>
            </a:r>
          </a:p>
        </p:txBody>
      </p:sp>
    </p:spTree>
    <p:extLst>
      <p:ext uri="{BB962C8B-B14F-4D97-AF65-F5344CB8AC3E}">
        <p14:creationId xmlns:p14="http://schemas.microsoft.com/office/powerpoint/2010/main" val="999806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12DE-B064-33A8-D9A0-605578F4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AD131DB6-4532-46EC-E18F-19711AC86B8C}"/>
              </a:ext>
            </a:extLst>
          </p:cNvPr>
          <p:cNvSpPr txBox="1"/>
          <p:nvPr/>
        </p:nvSpPr>
        <p:spPr>
          <a:xfrm>
            <a:off x="290822" y="6141716"/>
            <a:ext cx="59553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</a:t>
            </a:r>
            <a:r>
              <a:rPr lang="fr-FR" sz="1000" dirty="0"/>
              <a:t>1er juillet au 30 septembre </a:t>
            </a:r>
            <a:r>
              <a:rPr lang="fr-FR" sz="1000" i="0" u="none" strike="noStrike" baseline="0" dirty="0"/>
              <a:t>2025 par rapport à la même période en 2024</a:t>
            </a:r>
          </a:p>
          <a:p>
            <a:r>
              <a:rPr lang="fr-FR" sz="1000" i="0" u="none" strike="noStrike" baseline="0" dirty="0"/>
              <a:t>Périmètre : France y compris les DROM hors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11" name="ZoneTexte 9">
            <a:extLst>
              <a:ext uri="{FF2B5EF4-FFF2-40B4-BE49-F238E27FC236}">
                <a16:creationId xmlns:a16="http://schemas.microsoft.com/office/drawing/2014/main" id="{92D15FF2-FF44-F43D-1B47-DC0F4D9A659B}"/>
              </a:ext>
            </a:extLst>
          </p:cNvPr>
          <p:cNvSpPr txBox="1"/>
          <p:nvPr/>
        </p:nvSpPr>
        <p:spPr>
          <a:xfrm>
            <a:off x="8778635" y="2363801"/>
            <a:ext cx="2515194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600" b="1" dirty="0">
                <a:solidFill>
                  <a:srgbClr val="1C236B"/>
                </a:solidFill>
                <a:latin typeface="Aptos"/>
                <a:cs typeface="Arial"/>
              </a:rPr>
              <a:t>Nombre total de dossiers de prévention étudiés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1C236B"/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45DCB7-DB41-34F1-D611-1D83B3BE40ED}"/>
              </a:ext>
            </a:extLst>
          </p:cNvPr>
          <p:cNvSpPr/>
          <p:nvPr/>
        </p:nvSpPr>
        <p:spPr>
          <a:xfrm>
            <a:off x="9260799" y="3029433"/>
            <a:ext cx="1550867" cy="477114"/>
          </a:xfrm>
          <a:prstGeom prst="rect">
            <a:avLst/>
          </a:prstGeom>
          <a:solidFill>
            <a:srgbClr val="1C23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  <a:ea typeface="+mn-ea"/>
                <a:cs typeface="+mn-cs"/>
              </a:rPr>
              <a:t>Y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9325EBE-1084-5378-32EC-BD21D1BBDCE3}"/>
              </a:ext>
            </a:extLst>
          </p:cNvPr>
          <p:cNvGraphicFramePr>
            <a:graphicFrameLocks noGrp="1"/>
          </p:cNvGraphicFramePr>
          <p:nvPr/>
        </p:nvGraphicFramePr>
        <p:xfrm>
          <a:off x="1031502" y="716284"/>
          <a:ext cx="6552052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Régions</a:t>
                      </a:r>
                      <a:endParaRPr sz="1400" dirty="0">
                        <a:latin typeface="+mn-lt"/>
                      </a:endParaRPr>
                    </a:p>
                  </a:txBody>
                  <a:tcPr>
                    <a:solidFill>
                      <a:srgbClr val="1C23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latin typeface="+mn-lt"/>
                        </a:rPr>
                        <a:t>Répartition</a:t>
                      </a:r>
                      <a:r>
                        <a:rPr sz="1400" dirty="0">
                          <a:latin typeface="+mn-lt"/>
                        </a:rPr>
                        <a:t> (</a:t>
                      </a:r>
                      <a:r>
                        <a:rPr sz="1400" dirty="0" err="1">
                          <a:latin typeface="+mn-lt"/>
                        </a:rPr>
                        <a:t>en</a:t>
                      </a:r>
                      <a:r>
                        <a:rPr sz="1400" dirty="0">
                          <a:latin typeface="+mn-lt"/>
                        </a:rPr>
                        <a:t> %)</a:t>
                      </a:r>
                    </a:p>
                  </a:txBody>
                  <a:tcPr>
                    <a:solidFill>
                      <a:srgbClr val="1C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Ile-de-France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Provence-Alpes-Côte d'Azur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Nouvelle 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Pays de la Loire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Bretagne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+mn-lt"/>
                        </a:rP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Grand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Centre - 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La Réunion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Corse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Martinique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Guadeloupe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Guyane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+mn-lt"/>
                        </a:rPr>
                        <a:t>Mayotte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ADF1449A-D62C-697A-57E9-D4C34A9142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TextBox 34">
            <a:extLst>
              <a:ext uri="{FF2B5EF4-FFF2-40B4-BE49-F238E27FC236}">
                <a16:creationId xmlns:a16="http://schemas.microsoft.com/office/drawing/2014/main" id="{26BF29E4-E92E-D303-7C56-11381EABE327}"/>
              </a:ext>
            </a:extLst>
          </p:cNvPr>
          <p:cNvSpPr txBox="1"/>
          <p:nvPr/>
        </p:nvSpPr>
        <p:spPr>
          <a:xfrm>
            <a:off x="0" y="162285"/>
            <a:ext cx="10304206" cy="371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/>
              <a:t>Répartition</a:t>
            </a:r>
            <a:r>
              <a:rPr lang="en-US" sz="2000" b="1" dirty="0"/>
              <a:t> des dossiers de prevention </a:t>
            </a:r>
            <a:r>
              <a:rPr lang="en-US" sz="2000" b="1" dirty="0" err="1"/>
              <a:t>étudiés</a:t>
            </a:r>
            <a:r>
              <a:rPr lang="en-US" sz="2000" b="1" dirty="0"/>
              <a:t> </a:t>
            </a:r>
            <a:r>
              <a:rPr lang="fr-FR" sz="2000" b="1" dirty="0"/>
              <a:t>au </a:t>
            </a:r>
            <a:r>
              <a:rPr lang="en-US" sz="2000" b="1" dirty="0" err="1">
                <a:ea typeface="+mn-lt"/>
                <a:cs typeface="+mn-lt"/>
              </a:rPr>
              <a:t>Xème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trimestre</a:t>
            </a:r>
            <a:r>
              <a:rPr lang="en-US" sz="2000" b="1" dirty="0">
                <a:ea typeface="+mn-lt"/>
                <a:cs typeface="+mn-lt"/>
              </a:rPr>
              <a:t> de 2025 </a:t>
            </a:r>
            <a:r>
              <a:rPr lang="fr-FR" sz="2000" b="1" dirty="0"/>
              <a:t>par région </a:t>
            </a:r>
          </a:p>
        </p:txBody>
      </p:sp>
    </p:spTree>
    <p:extLst>
      <p:ext uri="{BB962C8B-B14F-4D97-AF65-F5344CB8AC3E}">
        <p14:creationId xmlns:p14="http://schemas.microsoft.com/office/powerpoint/2010/main" val="3853252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5E7D-5F98-955C-57D1-5750EFE4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13C3BBF-9E72-64E1-E0BE-832CB1CE3576}"/>
              </a:ext>
            </a:extLst>
          </p:cNvPr>
          <p:cNvSpPr txBox="1"/>
          <p:nvPr/>
        </p:nvSpPr>
        <p:spPr>
          <a:xfrm>
            <a:off x="3162189" y="2967335"/>
            <a:ext cx="6134003" cy="92333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Sociétés à mission</a:t>
            </a:r>
          </a:p>
        </p:txBody>
      </p:sp>
    </p:spTree>
    <p:extLst>
      <p:ext uri="{BB962C8B-B14F-4D97-AF65-F5344CB8AC3E}">
        <p14:creationId xmlns:p14="http://schemas.microsoft.com/office/powerpoint/2010/main" val="4626746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9E7C-4A6D-9350-002B-BA4CBF98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B5BC26EB-3B78-4495-4947-FFA0FCA9CC25}"/>
              </a:ext>
            </a:extLst>
          </p:cNvPr>
          <p:cNvSpPr txBox="1"/>
          <p:nvPr/>
        </p:nvSpPr>
        <p:spPr>
          <a:xfrm>
            <a:off x="131083" y="197964"/>
            <a:ext cx="10182955" cy="379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Nombre d’entreprises ayant le statut « entreprises à missions » au X</a:t>
            </a:r>
            <a:r>
              <a:rPr kumimoji="0" lang="fr-FR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ème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 trimestre 2025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FF59BB7-F31F-69AA-7CE3-7B0C2343753E}"/>
              </a:ext>
            </a:extLst>
          </p:cNvPr>
          <p:cNvSpPr txBox="1"/>
          <p:nvPr/>
        </p:nvSpPr>
        <p:spPr>
          <a:xfrm>
            <a:off x="7186392" y="1746614"/>
            <a:ext cx="63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197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2ED7BB1-440C-B8F9-5ECA-40DBD31D1FD8}"/>
              </a:ext>
            </a:extLst>
          </p:cNvPr>
          <p:cNvSpPr txBox="1"/>
          <p:nvPr/>
        </p:nvSpPr>
        <p:spPr>
          <a:xfrm>
            <a:off x="9830734" y="2449620"/>
            <a:ext cx="63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159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85E36FC-A9DC-8C56-CF3B-A64CFA34A005}"/>
              </a:ext>
            </a:extLst>
          </p:cNvPr>
          <p:cNvSpPr txBox="1"/>
          <p:nvPr/>
        </p:nvSpPr>
        <p:spPr>
          <a:xfrm>
            <a:off x="308917" y="6021061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867497"/>
              </p:ext>
            </p:extLst>
          </p:nvPr>
        </p:nvGraphicFramePr>
        <p:xfrm>
          <a:off x="4267200" y="1041431"/>
          <a:ext cx="365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9EC493A1-1A6A-F371-23E0-C997B2A9D6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35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A994-85A3-90B1-F123-33FB1A2E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B7FB7CA-A532-C24E-4B9B-2D36AD7B65F9}"/>
              </a:ext>
            </a:extLst>
          </p:cNvPr>
          <p:cNvSpPr txBox="1"/>
          <p:nvPr/>
        </p:nvSpPr>
        <p:spPr>
          <a:xfrm>
            <a:off x="0" y="-210771"/>
            <a:ext cx="11375937" cy="1029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Nombre </a:t>
            </a:r>
            <a:r>
              <a:rPr lang="fr-FR" sz="2000" b="1" dirty="0">
                <a:solidFill>
                  <a:prstClr val="black"/>
                </a:solidFill>
              </a:rPr>
              <a:t>d’entreprises ayant le statut « entreprises à missions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» par region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7B52169-D177-BAC5-D0AF-8899F7FE2588}"/>
              </a:ext>
            </a:extLst>
          </p:cNvPr>
          <p:cNvSpPr txBox="1"/>
          <p:nvPr/>
        </p:nvSpPr>
        <p:spPr>
          <a:xfrm>
            <a:off x="308915" y="6193692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734232"/>
              </p:ext>
            </p:extLst>
          </p:nvPr>
        </p:nvGraphicFramePr>
        <p:xfrm>
          <a:off x="2438400" y="972087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20B6E094-C531-48B9-1863-B772123D53B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0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DD8A-F983-36C1-4B5A-B43DC867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2EDC9BF-834D-6576-D7CD-3A3621076129}"/>
              </a:ext>
            </a:extLst>
          </p:cNvPr>
          <p:cNvSpPr txBox="1"/>
          <p:nvPr/>
        </p:nvSpPr>
        <p:spPr>
          <a:xfrm>
            <a:off x="93611" y="357510"/>
            <a:ext cx="10282842" cy="3968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2000" b="1" dirty="0" err="1">
                <a:solidFill>
                  <a:prstClr val="black"/>
                </a:solidFill>
              </a:rPr>
              <a:t>Répartition</a:t>
            </a:r>
            <a:r>
              <a:rPr lang="en-US" sz="2000" b="1" dirty="0">
                <a:solidFill>
                  <a:prstClr val="black"/>
                </a:solidFill>
              </a:rPr>
              <a:t> des </a:t>
            </a:r>
            <a:r>
              <a:rPr lang="en-US" sz="2000" b="1" dirty="0" err="1">
                <a:solidFill>
                  <a:prstClr val="black"/>
                </a:solidFill>
                <a:latin typeface="Aptos "/>
              </a:rPr>
              <a:t>entreprises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qualifiées</a:t>
            </a:r>
            <a:r>
              <a:rPr lang="en-US" sz="2000" b="1" dirty="0">
                <a:solidFill>
                  <a:prstClr val="black"/>
                </a:solidFill>
              </a:rPr>
              <a:t> de « à missions » par </a:t>
            </a:r>
            <a:r>
              <a:rPr lang="en-US" sz="2000" b="1" dirty="0" err="1">
                <a:solidFill>
                  <a:prstClr val="black"/>
                </a:solidFill>
              </a:rPr>
              <a:t>secteur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d’activité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fr-FR" sz="2000" b="1" dirty="0">
                <a:solidFill>
                  <a:prstClr val="black"/>
                </a:solidFill>
              </a:rPr>
              <a:t>au X</a:t>
            </a:r>
            <a:r>
              <a:rPr lang="fr-FR" sz="2000" b="1" baseline="30000" dirty="0">
                <a:solidFill>
                  <a:prstClr val="black"/>
                </a:solidFill>
              </a:rPr>
              <a:t>ème</a:t>
            </a:r>
            <a:r>
              <a:rPr lang="fr-FR" sz="2000" b="1" dirty="0">
                <a:solidFill>
                  <a:prstClr val="black"/>
                </a:solidFill>
              </a:rPr>
              <a:t> trimestre 2025</a:t>
            </a:r>
            <a:endParaRPr lang="en-US" sz="2000" b="1" dirty="0">
              <a:solidFill>
                <a:prstClr val="black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73D6D00-A91D-1E3E-C4A3-7C3DA903BC1E}"/>
              </a:ext>
            </a:extLst>
          </p:cNvPr>
          <p:cNvSpPr txBox="1"/>
          <p:nvPr/>
        </p:nvSpPr>
        <p:spPr>
          <a:xfrm>
            <a:off x="320041" y="6146546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2E33EEA-6833-0F39-2E4D-E6D02E128402}"/>
              </a:ext>
            </a:extLst>
          </p:cNvPr>
          <p:cNvGraphicFramePr>
            <a:graphicFrameLocks noGrp="1"/>
          </p:cNvGraphicFramePr>
          <p:nvPr/>
        </p:nvGraphicFramePr>
        <p:xfrm>
          <a:off x="3566160" y="-174631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5EC3D207-56D2-0B1F-3856-065ABC14FB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ZoneTexte 10">
            <a:extLst>
              <a:ext uri="{FF2B5EF4-FFF2-40B4-BE49-F238E27FC236}">
                <a16:creationId xmlns:a16="http://schemas.microsoft.com/office/drawing/2014/main" id="{C4AB7119-5CAE-A3BC-D6F5-95035CB1833D}"/>
              </a:ext>
            </a:extLst>
          </p:cNvPr>
          <p:cNvSpPr txBox="1"/>
          <p:nvPr/>
        </p:nvSpPr>
        <p:spPr>
          <a:xfrm>
            <a:off x="4589101" y="310583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188303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4765-AC85-3703-F7B3-502646F5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14583D3-0A8C-4C10-B1EB-D499F5D0279C}"/>
              </a:ext>
            </a:extLst>
          </p:cNvPr>
          <p:cNvSpPr txBox="1"/>
          <p:nvPr/>
        </p:nvSpPr>
        <p:spPr>
          <a:xfrm>
            <a:off x="2949020" y="2967335"/>
            <a:ext cx="6560344" cy="92333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Entreprises de l’ESS</a:t>
            </a:r>
          </a:p>
        </p:txBody>
      </p:sp>
    </p:spTree>
    <p:extLst>
      <p:ext uri="{BB962C8B-B14F-4D97-AF65-F5344CB8AC3E}">
        <p14:creationId xmlns:p14="http://schemas.microsoft.com/office/powerpoint/2010/main" val="34175702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A788C-AC4C-4A86-C17B-4E5F9194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33E7897-69C3-210C-38EA-7717931BE776}"/>
              </a:ext>
            </a:extLst>
          </p:cNvPr>
          <p:cNvSpPr txBox="1"/>
          <p:nvPr/>
        </p:nvSpPr>
        <p:spPr>
          <a:xfrm>
            <a:off x="139147" y="129053"/>
            <a:ext cx="9476801" cy="3904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Nombre d’entreprises de l’Economie Sociale et Solidaire au X</a:t>
            </a:r>
            <a:r>
              <a:rPr kumimoji="0" lang="fr-FR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ème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"/>
              </a:rPr>
              <a:t> trimestre 2025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AE125F6-B4F1-9A41-1094-EC4BF439D492}"/>
              </a:ext>
            </a:extLst>
          </p:cNvPr>
          <p:cNvSpPr txBox="1"/>
          <p:nvPr/>
        </p:nvSpPr>
        <p:spPr>
          <a:xfrm>
            <a:off x="7186392" y="1746614"/>
            <a:ext cx="63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197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0150F28-A023-953F-CA7D-0366576605F2}"/>
              </a:ext>
            </a:extLst>
          </p:cNvPr>
          <p:cNvSpPr txBox="1"/>
          <p:nvPr/>
        </p:nvSpPr>
        <p:spPr>
          <a:xfrm>
            <a:off x="9830734" y="2449620"/>
            <a:ext cx="63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159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BBE79FE-5BFB-E1FE-A6E0-ED1C44CF4A73}"/>
              </a:ext>
            </a:extLst>
          </p:cNvPr>
          <p:cNvSpPr txBox="1"/>
          <p:nvPr/>
        </p:nvSpPr>
        <p:spPr>
          <a:xfrm>
            <a:off x="308917" y="6021061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76125"/>
              </p:ext>
            </p:extLst>
          </p:nvPr>
        </p:nvGraphicFramePr>
        <p:xfrm>
          <a:off x="4010025" y="1143000"/>
          <a:ext cx="365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6BCC2918-CFA4-0D28-0B33-07CAF2A4F3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86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0AD5-1BE9-ED47-B542-57DA74CF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906CF0B-F269-70E9-24A8-BC44DD0A2006}"/>
              </a:ext>
            </a:extLst>
          </p:cNvPr>
          <p:cNvSpPr txBox="1"/>
          <p:nvPr/>
        </p:nvSpPr>
        <p:spPr>
          <a:xfrm>
            <a:off x="72361" y="126310"/>
            <a:ext cx="10133524" cy="5640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Evolution du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nombre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d’entreprises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lang="fr-FR" sz="2000" b="1" dirty="0">
                <a:solidFill>
                  <a:prstClr val="black"/>
                </a:solidFill>
              </a:rPr>
              <a:t>l’Economie Sociale et Solidaire par région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8D9F01-F0DF-DBA8-35F8-E013FB0737C3}"/>
              </a:ext>
            </a:extLst>
          </p:cNvPr>
          <p:cNvSpPr txBox="1"/>
          <p:nvPr/>
        </p:nvSpPr>
        <p:spPr>
          <a:xfrm>
            <a:off x="308915" y="6193692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784436"/>
              </p:ext>
            </p:extLst>
          </p:nvPr>
        </p:nvGraphicFramePr>
        <p:xfrm>
          <a:off x="2261340" y="906358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B4DCF11B-60C2-B10A-2A63-BCE77BF1E12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965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A61E-E4F6-9AAF-5E6F-F8D3EF76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07B10152-5060-4BFC-EA66-B5D449E2127D}"/>
              </a:ext>
            </a:extLst>
          </p:cNvPr>
          <p:cNvSpPr txBox="1"/>
          <p:nvPr/>
        </p:nvSpPr>
        <p:spPr>
          <a:xfrm>
            <a:off x="93611" y="357510"/>
            <a:ext cx="10282842" cy="3968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Répartition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des </a:t>
            </a:r>
            <a:r>
              <a:rPr lang="en-US" sz="2000" b="1" dirty="0" err="1">
                <a:solidFill>
                  <a:prstClr val="black"/>
                </a:solidFill>
              </a:rPr>
              <a:t>entreprises</a:t>
            </a:r>
            <a:r>
              <a:rPr lang="en-US" sz="2000" b="1" dirty="0">
                <a:solidFill>
                  <a:prstClr val="black"/>
                </a:solidFill>
              </a:rPr>
              <a:t> de </a:t>
            </a:r>
            <a:r>
              <a:rPr lang="fr-FR" sz="2000" b="1" dirty="0">
                <a:solidFill>
                  <a:prstClr val="black"/>
                </a:solidFill>
              </a:rPr>
              <a:t>l’Economie Sociale et Solidaire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par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secteur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d’activité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au X</a:t>
            </a:r>
            <a:r>
              <a:rPr kumimoji="0" lang="fr-FR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ème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trimestre 2025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54FAEE7-C3F4-2E3D-C635-D08B0EF326DA}"/>
              </a:ext>
            </a:extLst>
          </p:cNvPr>
          <p:cNvSpPr txBox="1"/>
          <p:nvPr/>
        </p:nvSpPr>
        <p:spPr>
          <a:xfrm>
            <a:off x="320041" y="6146546"/>
            <a:ext cx="46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Données sur la période du 1er juillet au 30  septembre 2025 par rapport à la même période en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Périmètre : France y compris les DROM hors Haut-Rhin, Bas-Rhin, Moselle,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Sources : Infogreffe et Greffes des tribunaux de commerce 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423407"/>
              </p:ext>
            </p:extLst>
          </p:nvPr>
        </p:nvGraphicFramePr>
        <p:xfrm>
          <a:off x="3566160" y="-174631"/>
          <a:ext cx="4389120" cy="667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BC41CD58-3B00-9CC6-6116-A0B467CB8F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4" name="ZoneTexte 10">
            <a:extLst>
              <a:ext uri="{FF2B5EF4-FFF2-40B4-BE49-F238E27FC236}">
                <a16:creationId xmlns:a16="http://schemas.microsoft.com/office/drawing/2014/main" id="{98381EE2-D403-7229-EDE6-7F9AE11B301C}"/>
              </a:ext>
            </a:extLst>
          </p:cNvPr>
          <p:cNvSpPr txBox="1"/>
          <p:nvPr/>
        </p:nvSpPr>
        <p:spPr>
          <a:xfrm>
            <a:off x="4589101" y="3105834"/>
            <a:ext cx="2247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TX 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Aptos" panose="020B0004020202020204" pitchFamily="34" charset="0"/>
              </a:rPr>
              <a:t>Répartition en %</a:t>
            </a:r>
          </a:p>
        </p:txBody>
      </p:sp>
    </p:spTree>
    <p:extLst>
      <p:ext uri="{BB962C8B-B14F-4D97-AF65-F5344CB8AC3E}">
        <p14:creationId xmlns:p14="http://schemas.microsoft.com/office/powerpoint/2010/main" val="18254031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a4b3f-b359-4000-8a43-4a678353684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A751287696408B892F98C1001C07" ma:contentTypeVersion="12" ma:contentTypeDescription="Crée un document." ma:contentTypeScope="" ma:versionID="03680d9e4e83be13d001bddfc6b23ba7">
  <xsd:schema xmlns:xsd="http://www.w3.org/2001/XMLSchema" xmlns:xs="http://www.w3.org/2001/XMLSchema" xmlns:p="http://schemas.microsoft.com/office/2006/metadata/properties" xmlns:ns2="648a4b3f-b359-4000-8a43-4a6783536843" targetNamespace="http://schemas.microsoft.com/office/2006/metadata/properties" ma:root="true" ma:fieldsID="8660330aa79db525cc43d86b2ce2e346" ns2:_="">
    <xsd:import namespace="648a4b3f-b359-4000-8a43-4a67835368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a4b3f-b359-4000-8a43-4a67835368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2197c539-b3be-4d99-bd36-f8e16b27b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F436F7-33F6-48EE-88FC-A7087A6E5FE7}">
  <ds:schemaRefs>
    <ds:schemaRef ds:uri="648a4b3f-b359-4000-8a43-4a67835368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9578BF-7DF9-49AB-9CE3-63905658C1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E1310A-C2D1-45A6-90DD-F1BB3B58AA15}">
  <ds:schemaRefs>
    <ds:schemaRef ds:uri="648a4b3f-b359-4000-8a43-4a67835368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3608</Words>
  <Application>Microsoft Office PowerPoint</Application>
  <PresentationFormat>Grand écran</PresentationFormat>
  <Paragraphs>813</Paragraphs>
  <Slides>55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2" baseType="lpstr">
      <vt:lpstr>Aptos</vt:lpstr>
      <vt:lpstr>Aptos </vt:lpstr>
      <vt:lpstr>Aptos Display</vt:lpstr>
      <vt:lpstr>Aptos Narrow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AISSA</dc:creator>
  <cp:lastModifiedBy>Yasmine AISSA</cp:lastModifiedBy>
  <cp:revision>1</cp:revision>
  <dcterms:created xsi:type="dcterms:W3CDTF">2012-07-30T22:21:58Z</dcterms:created>
  <dcterms:modified xsi:type="dcterms:W3CDTF">2025-11-28T14:53:35Z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0x010100DEA7A751287696408B892F98C1001C07</vt:lpwstr>
  </property>
  <property fmtid="{D5CDD505-2E9C-101B-9397-08002B2CF9AE}" pid="3" name="MediaServiceImageTags">
    <vt:lpwstr/>
  </property>
</Properties>
</file>